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 MLOps (semanas)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Desarrollo</c:v>
                </c:pt>
                <c:pt idx="1">
                  <c:v>Validacion</c:v>
                </c:pt>
                <c:pt idx="2">
                  <c:v>Despliegue</c:v>
                </c:pt>
                <c:pt idx="3">
                  <c:v>Monitoreo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MLOps (semanas)</c:v>
                </c:pt>
              </c:strCache>
            </c:strRef>
          </c:tx>
          <c:spPr>
            <a:solidFill>
              <a:srgbClr val="0066CC"/>
            </a:solidFill>
          </c:spPr>
          <c:cat>
            <c:strRef>
              <c:f>Sheet1!$A$2:$A$5</c:f>
              <c:strCache>
                <c:ptCount val="4"/>
                <c:pt idx="0">
                  <c:v>Desarrollo</c:v>
                </c:pt>
                <c:pt idx="1">
                  <c:v>Validacion</c:v>
                </c:pt>
                <c:pt idx="2">
                  <c:v>Despliegue</c:v>
                </c:pt>
                <c:pt idx="3">
                  <c:v>Monitoreo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Inversion MLOps (k€)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130</c:v>
                </c:pt>
                <c:pt idx="2">
                  <c:v>150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Coste sin MLOps (k€)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</c:v>
                </c:pt>
                <c:pt idx="1">
                  <c:v>350</c:v>
                </c:pt>
                <c:pt idx="2">
                  <c:v>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Ahorro acumulado (k€)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220</c:v>
                </c:pt>
                <c:pt idx="2">
                  <c:v>350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to_instr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914400"/>
            <a:ext cx="25603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4206240"/>
            <a:ext cx="3502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Formador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MLOps: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Calibri"/>
              </a:rPr>
              <a:t>Del modelo al valor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ED6F1"/>
                </a:solidFill>
                <a:latin typeface="Calibri"/>
              </a:rPr>
              <a:t>Transformando la inteligencia artificial en resultados reales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457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Formacion MLOps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D6F1"/>
                </a:solidFill>
                <a:latin typeface="Calibri"/>
              </a:rPr>
              <a:t>17 de March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Sesion Confidencial — Solo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 del 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77240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4124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503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El problema: la IA que no llega a produccion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344168"/>
            <a:ext cx="987552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733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Que es MLOps y por que importa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167128"/>
            <a:ext cx="987552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963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El ciclo de vida de un modelo de 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990088"/>
            <a:ext cx="987552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101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3192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Beneficios de negocio medibles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813048"/>
            <a:ext cx="987552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69080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330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42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Como lo implementamos en nuestra plataforma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636008"/>
            <a:ext cx="987552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56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65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Proximos pasos y llamada a la accion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F8C8D"/>
                </a:solidFill>
                <a:latin typeface="Calibri"/>
              </a:rPr>
              <a:t>Sesion interactiva — haremos pausas para preguntas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4873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Pausa para reflexion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¿Que sabeis de IA en produccion?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¿Cuántos modelos de IA conocen que usan a diario?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48737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Compartan su experiencia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El problema: la IA que no llega a produccion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3200400" cy="2560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87%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de los modelos de IA
nunca llegan
a produccion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914400"/>
            <a:ext cx="79552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  Falta de procesos estandarizados entre ciencia de datos e IT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  Silos entre equipos: datos, modelos y deployment separados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  Ausencia de monitoreo: modelos degradados sin deteccion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  Deuda tecnica acumulada en cada iteracion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Fuente: Gartner — $3.9T valor estimado IA 2022 | Databricks Big Book of MLOps v6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MLOps es como una cadena de montaje para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011680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288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55448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A70"/>
                </a:solidFill>
                <a:latin typeface="Calibri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54480"/>
            <a:ext cx="2011680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55448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A70"/>
                </a:solidFill>
                <a:latin typeface="Calibri"/>
              </a:rPr>
              <a:t>Produccion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554480"/>
            <a:ext cx="2011680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Monitoreo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1145743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ED6F1"/>
                </a:solidFill>
                <a:latin typeface="Calibri"/>
              </a:rPr>
              <a:t>Igual que una fabrica no improvisa cada pieza, MLOps estandariza
cada etapa del ciclo de vida del modelo de 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Sin este proceso: caos, retrabajo, modelos en produccion sin garantias.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00"/>
                </a:solidFill>
                <a:latin typeface="Calibri"/>
              </a:rPr>
              <a:t>MLOps = ML + DevOps + Ingenieria de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Que es MLOps: el ciclo integrado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2651760" cy="1645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Ingesta, limpieza,
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1732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A7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822960"/>
            <a:ext cx="2651760" cy="1645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Entrenamiento,
experimentos, versiones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41732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A7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822960"/>
            <a:ext cx="265176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PRODUCCION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Despliegue, CI/CD,
serving en tiempo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41732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A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822960"/>
            <a:ext cx="265176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MONITOREO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4173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Drift detection,
alaertas, retraining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112745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A70"/>
                </a:solidFill>
                <a:latin typeface="Calibri"/>
              </a:rPr>
              <a:t>MLOps = ML + DevOps + Ingenieria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Automatizacion de pipelines de entrenamiento y despliegue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Gobernanza y trazabilidad de modelos y datos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Colaboracion estructurada entre Data Scientists, MLEngineers y Negocio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Sin MLOps vs Con MLOps: la diferencia es clara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2286000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ASPECTO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731520"/>
            <a:ext cx="42976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79552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SIN MLOps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731520"/>
            <a:ext cx="47548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795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 MLOps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28600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3560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Velocidad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325880"/>
            <a:ext cx="4297680" cy="713232"/>
          </a:xfrm>
          <a:prstGeom prst="rect">
            <a:avLst/>
          </a:prstGeom>
          <a:solidFill>
            <a:srgbClr val="FDE8E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435607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Calibri"/>
              </a:rPr>
              <a:t>6+ meses por modelo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325880"/>
            <a:ext cx="4754880" cy="713232"/>
          </a:xfrm>
          <a:prstGeom prst="rect">
            <a:avLst/>
          </a:prstGeom>
          <a:solidFill>
            <a:srgbClr val="E8F8E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435607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2-4 semanas por modelo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30552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Calidad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2130552"/>
            <a:ext cx="4297680" cy="713232"/>
          </a:xfrm>
          <a:prstGeom prst="rect">
            <a:avLst/>
          </a:prstGeom>
          <a:solidFill>
            <a:srgbClr val="FDE8E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2240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Calibri"/>
              </a:rPr>
              <a:t>Errores detectados tarde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130552"/>
            <a:ext cx="4754880" cy="713232"/>
          </a:xfrm>
          <a:prstGeom prst="rect">
            <a:avLst/>
          </a:prstGeom>
          <a:solidFill>
            <a:srgbClr val="E8F8E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240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Validacion automatica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35224"/>
            <a:ext cx="228600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44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Trazabilidad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2935224"/>
            <a:ext cx="4297680" cy="713232"/>
          </a:xfrm>
          <a:prstGeom prst="rect">
            <a:avLst/>
          </a:prstGeom>
          <a:solidFill>
            <a:srgbClr val="FDE8E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0449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Calibri"/>
              </a:rPr>
              <a:t>Sin registro de versiones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935224"/>
            <a:ext cx="4754880" cy="713232"/>
          </a:xfrm>
          <a:prstGeom prst="rect">
            <a:avLst/>
          </a:prstGeom>
          <a:solidFill>
            <a:srgbClr val="E8F8E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0449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100% auditable y versionado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39896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496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Escalabilidad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3739896"/>
            <a:ext cx="4297680" cy="713232"/>
          </a:xfrm>
          <a:prstGeom prst="rect">
            <a:avLst/>
          </a:prstGeom>
          <a:solidFill>
            <a:srgbClr val="FDE8E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38496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Calibri"/>
              </a:rPr>
              <a:t>Cada modelo desde cero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739896"/>
            <a:ext cx="4754880" cy="713232"/>
          </a:xfrm>
          <a:prstGeom prst="rect">
            <a:avLst/>
          </a:prstGeom>
          <a:solidFill>
            <a:srgbClr val="E8F8E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84962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Pipelines reutilizables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44568"/>
            <a:ext cx="228600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654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Cumplimiento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4544568"/>
            <a:ext cx="4297680" cy="713232"/>
          </a:xfrm>
          <a:prstGeom prst="rect">
            <a:avLst/>
          </a:prstGeom>
          <a:solidFill>
            <a:srgbClr val="FDE8E8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65429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  <a:latin typeface="Calibri"/>
              </a:rPr>
              <a:t>Imposible demostrar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4544568"/>
            <a:ext cx="4754880" cy="713232"/>
          </a:xfrm>
          <a:prstGeom prst="rect">
            <a:avLst/>
          </a:prstGeom>
          <a:solidFill>
            <a:srgbClr val="E8F8E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46542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DORA y EU AI Act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4873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Pausa para reflexion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¿En su área tienen modelos detenidos
o que tardan meses en actualizarse?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Compartid un ejemplo concreto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El ciclo de vida de un modelo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017520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Definir
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017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3A7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A70"/>
                </a:solidFill>
                <a:latin typeface="Calibri"/>
              </a:rPr>
              <a:t>Preparar
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017520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280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783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Entrenar
Modelo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39"/>
            <a:ext cx="3017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7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3A7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A70"/>
                </a:solidFill>
                <a:latin typeface="Calibri"/>
              </a:rPr>
              <a:t>Evaluar
Resultados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947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291839"/>
            <a:ext cx="3017520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38327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8862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Desplegar
en Prod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7947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291839"/>
            <a:ext cx="30175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38327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3A70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8862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A70"/>
                </a:solidFill>
                <a:latin typeface="Calibri"/>
              </a:rPr>
              <a:t>Monitorear
y Mejorar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6B00"/>
                </a:solidFill>
                <a:latin typeface="Calibri"/>
              </a:rPr>
              <a:t>↻  El ciclo se repite continuamente — mejora incremental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Caso real: Deteccion de fraude SIN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  <a:latin typeface="Calibri"/>
              </a:rPr>
              <a:t>X  Problema detectado: fraude en aumento, modelo actual degradado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  <a:latin typeface="Calibri"/>
              </a:rPr>
              <a:t>X  Proceso manual: data scientist dedica 3 semanas solo a preparar datos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  <a:latin typeface="Calibri"/>
              </a:rPr>
              <a:t>X  Sin entorno de staging: pruebas directamente en produccion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  <a:latin typeface="Calibri"/>
              </a:rPr>
              <a:t>X  Tiempo de respuesta: 6 meses desde deteccion hasta nuevo modelo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  <a:latin typeface="Calibri"/>
              </a:rPr>
              <a:t>X  Consecuencia: 2.4M EUR en fraude no detectado durante el proceso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112745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4389120"/>
            <a:ext cx="1097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Mes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Deteccion
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389120"/>
            <a:ext cx="1097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Mes 2-4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029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Preparacion
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389120"/>
            <a:ext cx="1097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Mes 4-5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029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Entrenamiento
manual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4389120"/>
            <a:ext cx="1097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Mes 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029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Despliegue
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Caso real: Deteccion de fraude CON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7AE60"/>
                </a:solidFill>
                <a:latin typeface="Calibri"/>
              </a:rPr>
              <a:t>OK  Alerta automatica: pipeline detecta degradacion del modelo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7AE60"/>
                </a:solidFill>
                <a:latin typeface="Calibri"/>
              </a:rPr>
              <a:t>OK  Feature store pre-computado: datos listos en horas, no semanas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7AE60"/>
                </a:solidFill>
                <a:latin typeface="Calibri"/>
              </a:rPr>
              <a:t>OK  Entorno staging automatizado: pruebas sin riesgo en produccion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7AE60"/>
                </a:solidFill>
                <a:latin typeface="Calibri"/>
              </a:rPr>
              <a:t>OK  Tiempo de respuesta: 4 semanas de extremo a extremo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7AE60"/>
                </a:solidFill>
                <a:latin typeface="Calibri"/>
              </a:rPr>
              <a:t>OK  Resultado: 95% precision mantenida, cero tiempo de inactividad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97680"/>
            <a:ext cx="112745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262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 meses → 4 semanas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Reduccion tiempo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45262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572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Menos retrabajo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5262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572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95%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Precision mantenida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45262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572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Incidentes graves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Tiempo de entrega de modelos: con y sin MLOps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822960"/>
          <a:ext cx="9144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Reduccion media: 78% menos tiempo con MLOps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4873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Pausa para reflexion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¿Qué les costaría más:
un modelo que falla silenciosamente
o uno que tarda 6 meses en actualizarse?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Ambos tienen coste — MLOps reduce los dos riesgos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Riesgos de no tener MLOps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1457432" cy="1417320"/>
          </a:xfrm>
          <a:prstGeom prst="rect">
            <a:avLst/>
          </a:prstGeom>
          <a:solidFill>
            <a:srgbClr val="FFF8F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256032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RIESGO REGULATORIO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09728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Multas y sanciones | Imposible demostrar trazabilidad | Modelos no explicables | Incumplimiento EU AI Act / DORA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57432" cy="1417320"/>
          </a:xfrm>
          <a:prstGeom prst="rect">
            <a:avLst/>
          </a:prstGeom>
          <a:solidFill>
            <a:srgbClr val="FFF8F8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2560320" cy="1417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RIESGO REPUTACIONAL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Modelos sesgados en produccion | Errores visibles al cliente | Perdida de confianza institucional | Cobertura mediatica negativa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57432" cy="1417320"/>
          </a:xfrm>
          <a:prstGeom prst="rect">
            <a:avLst/>
          </a:prstGeom>
          <a:solidFill>
            <a:srgbClr val="FFF8F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256032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RIESGO OPERATIVO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38912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Modelo desactualizado sin deteccion | Fraude no detectado por drift | Caida de rendimiento silenciosa | Dependencia de personas clave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MLOps y el marco normativo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853135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6400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A70"/>
                </a:solidFill>
                <a:latin typeface="Calibri"/>
              </a:rPr>
              <a:t>Digital Operational Resilience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Resiliencia operativa digital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Trazabilidad completa de modelos en produccion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Gestion de incidentes automatizada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Auditoria de cambios en sistemas criticos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MLOps proporciona el registro y la trazabilidad exigidos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94960" cy="6400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EU AI 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3A70"/>
                </a:solidFill>
                <a:latin typeface="Calibri"/>
              </a:rPr>
              <a:t>Reglamento Europeo de Inteligencia Artificial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Explicabilidad y transparencia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Documentacion de datos de entrenamiento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Versionado de modelos de alto riesgo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Monitoreo continuo de sesgos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MLOps genera el audit trail que exige la norma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6B00"/>
                </a:solidFill>
                <a:latin typeface="Calibri"/>
              </a:rPr>
              <a:t>El cumplimiento normativo ya no es opcional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Beneficio 1: Velocidad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AED6F1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6858000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 6 meses a 2 semanas en despliegue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Reduccion del 85% en tiempo de entrega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Pipeline de entrenamiento completamente automatizado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CI/CD para ML: integrar, validar y desplegar sin intervencion manual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Re-entrenamiento automatico ante deteccion de drift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Reutilizacion de componentes: acelera cada nuevo modelo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Beneficio 2: Calidad y Estabilidad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AED6F1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685800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90% reduccion de fallos en produccion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Estabilidad operativa garantizada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Validacion automatica de datos en cada ingesta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Tests de modelo: accuracy, fairness, robustez antes de produccion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Monitoreo continuo: alertas ante degradacion de rendimiento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Rollback automatico ante anomalias detectadas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Beneficio 3: Trazabilidad y Explicabilidad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AED6F1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6858000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100% de los modelos auditables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Cumplimiento normativo sin esfuerzo 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Registro automatico de versiones de modelos y datasets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Quién entrenó, cuando, con qué datos y con qué hiperparametros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Cadena de aprobacion documentada: data scientist, MLEngineer, negocio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Explicabilidad integrada: SHAP values, feature importance exportable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Beneficio 4: Escalabilidad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57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AED6F1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6858000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De 1 modelo a 50+ sin coste proporcional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Economia de escala en inteligencia artificial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Infraestructura como codigo: entornos reproducibles en minutos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Reutilizacion de pipelines entre equipos y casos de uso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Gobierno centralizado: un punto de control para todos los modelos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Auto-scaling de recursos: pago por uso real, no por capacidad reservada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El coste de MLOps vs el coste de no tenerlo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822960"/>
          <a:ext cx="8686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9326880" y="2286000"/>
            <a:ext cx="246888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23317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ROI positivo
desde el primer 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Valores ilustrativos basados en benchmarks de industria (Gartner, Databricks)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4873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Pausa para reflexion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¿Que beneficio es mas critico
para su área de negocio?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Velocidad   |   Calidad   |   Trazabilidad   |   Escalabilidad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Como lo implementamos: nuestra plataforma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Dataiku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Orquestacion visual de pipelines ML sin codigo.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Drag &amp; drop para equipos de negocio y datos.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Governance centralizado de todos los proyectos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Google Cloud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Infraestructura escalable, segura y global.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BigQuery, Vertex AI, Cloud Run integrados.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Pago por uso real, sin inversion inicial en HW.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Tracking de experimentos y versionado.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Model Registry: gobierno del ciclo de vida.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Integracion nativa con Python, R y Spark.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6B00"/>
                </a:solidFill>
                <a:latin typeface="Calibri"/>
              </a:rPr>
              <a:t>Tecnologia enterprise con interfaz accesible para negocio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Casos de uso activos en produccion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577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577840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Scoring crediticio en tiempo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Evaluacion automatica del riesgo en &lt;100ms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Pipeline diario de actualizacion de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560320"/>
            <a:ext cx="1920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587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produccion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822960"/>
            <a:ext cx="5577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822960"/>
            <a:ext cx="5577840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8961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Deteccion de fraude transaccional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Modelo de anomalias sobre flujos en tiempo real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Monitoreo de deriva con alertas automaticas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560320"/>
            <a:ext cx="1920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587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produccion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577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5577840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47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Churn prediction en cartera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Prediccion mensual de abandono de clientes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Acciones preventivas automatizadas en CRM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5212079"/>
            <a:ext cx="192024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52395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desarrollo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557784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474720"/>
            <a:ext cx="5577840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547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Analisis de riesgo de mercado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114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Modelos de VaR y stress testing automatizados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Integracion con sistemas de reporte regulatorio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5212079"/>
            <a:ext cx="192024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52395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desarrollo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Hitos conseguidos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853135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4572000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modelos en produccion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4572000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173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3 sem.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tiempo medio despliegue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566160"/>
            <a:ext cx="4572000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SLA cumplimiento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4572000" cy="1920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703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incidentes regulatorios 2024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Retos actuales y como los abordamos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5029200" cy="5029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731520"/>
            <a:ext cx="630936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7955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COMO LO ABORDAMOS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3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Calidad de datos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325880"/>
            <a:ext cx="630936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463039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Validacion automatica y perfilado en ingesta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Adopcion por equipos de negocio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240280"/>
            <a:ext cx="6309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3774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Formacion, acompañamiento y interfaces visuales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50292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Integracion con sistemas legacy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154680"/>
            <a:ext cx="630936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2918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APIs REST y conectores estandar documentados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5029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Tiempo de aprobacion de modelos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4069080"/>
            <a:ext cx="6309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42062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Gates automatizados con criterios claros y aprobacion digital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502920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120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0"/>
                </a:solidFill>
                <a:latin typeface="Calibri"/>
              </a:rPr>
              <a:t>Gobierno de modelos en escala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4983480"/>
            <a:ext cx="630936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51206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Model Registry centralizado con flujo de aprobacion multicapa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Roadmap 2025-2026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0725912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2834640"/>
            <a:ext cx="16459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265176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A70"/>
                </a:solidFill>
                <a:latin typeface="Calibri"/>
              </a:rPr>
              <a:t>Plataforma MLOps unificada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Dataiku + GCP + MLflow integrados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2651760" cy="137160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Calibri"/>
              </a:rPr>
              <a:t>Hito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834640"/>
            <a:ext cx="16459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1887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188720"/>
            <a:ext cx="265176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2344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Q2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A70"/>
                </a:solidFill>
                <a:latin typeface="Calibri"/>
              </a:rPr>
              <a:t>20 modelos en produccion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Expansion casos de uso validados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337560"/>
            <a:ext cx="2651760" cy="137160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Calibri"/>
              </a:rPr>
              <a:t>Hito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834640"/>
            <a:ext cx="16459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188720"/>
            <a:ext cx="265176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344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Q3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A70"/>
                </a:solidFill>
                <a:latin typeface="Calibri"/>
              </a:rPr>
              <a:t>Self-service para negocio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Interfaces no-code para equipos de negocio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37560"/>
            <a:ext cx="2651760" cy="137160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Calibri"/>
              </a:rPr>
              <a:t>Hito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2834640"/>
            <a:ext cx="16459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1887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188720"/>
            <a:ext cx="265176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2344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645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A70"/>
                </a:solidFill>
                <a:latin typeface="Calibri"/>
              </a:rPr>
              <a:t>IA explicable regulatoria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Cumplimiento EU AI Act avanzado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337560"/>
            <a:ext cx="2651760" cy="137160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  <a:latin typeface="Calibri"/>
              </a:rPr>
              <a:t>Hito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ED6F1"/>
                </a:solidFill>
                <a:latin typeface="Calibri"/>
              </a:rPr>
              <a:t>Crecimiento iterativo con valor incremental en cada entrega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457200"/>
            <a:ext cx="4873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Pausa para reflexion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¿Que iniciativas del roadmap se alinean mejor
con sus objetivos de negocio?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¿Cuales quereis priorizar para el siguiente trimestre?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 que necesitamos de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48640" cy="10058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822960"/>
            <a:ext cx="107259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A70"/>
                </a:solidFill>
                <a:latin typeface="Calibri"/>
              </a:rPr>
              <a:t>Casos de uso concretos con impacto medible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8016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Identificar 2-3 problemas de negocio con KPIs claros y datos disponibles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48640" cy="10058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194560"/>
            <a:ext cx="107259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677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A70"/>
                </a:solidFill>
                <a:latin typeface="Calibri"/>
              </a:rPr>
              <a:t>Acceso a datos de calidad con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Datos etiquetados, definicion de features y ownership claro del dominio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48640" cy="10058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566160"/>
            <a:ext cx="107259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393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A70"/>
                </a:solidFill>
                <a:latin typeface="Calibri"/>
              </a:rPr>
              <a:t>Tiempo de expertos de negocio para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2336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Al menos 2h/semana de experto de dominio en las primeras 4 semanas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48640" cy="10058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166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937760"/>
            <a:ext cx="107259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0109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A70"/>
                </a:solidFill>
                <a:latin typeface="Calibri"/>
              </a:rPr>
              <a:t>Criterios claros de exito del modelo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9496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Precision minima aceptable, latencia requerida, frecuencia de actualizacion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Proximos pasos concretos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8531352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85800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280160"/>
            <a:ext cx="1045159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70"/>
                </a:solidFill>
                <a:latin typeface="Calibri"/>
              </a:rPr>
              <a:t>Workshop de identificacion de casos de uso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Esta semana — sesion de 2 horas con equipo de negocio y datos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Output: mapa de oportunidades priorizado por impacto/viabilidad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685800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926080"/>
            <a:ext cx="1045159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70"/>
                </a:solidFill>
                <a:latin typeface="Calibri"/>
              </a:rPr>
              <a:t>Definicion conjunta de criterios de exito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7472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Proximas 2 semanas — data scientist + experto de negocio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Output: tarjeta de proyecto con KPIs, datos, timeline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685800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4572000"/>
            <a:ext cx="1045159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6634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70"/>
                </a:solidFill>
                <a:latin typeface="Calibri"/>
              </a:rPr>
              <a:t>Kick-off del primer proyecto piloto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Proximo mes — equipo dedicado, metodologia agil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Output: MVP desplegado en staging en 3-4 semanas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to_instr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731520"/>
            <a:ext cx="27432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"La IA no es el futuro.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00"/>
                </a:solidFill>
                <a:latin typeface="Calibri"/>
              </a:rPr>
              <a:t>Es el presente.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MLOps es lo que la hace funcionar."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59436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Formacion MLOps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D6F1"/>
                </a:solidFill>
                <a:latin typeface="Calibri"/>
              </a:rPr>
              <a:t>mlops@empresa.com  |  Confidencial — Solo uso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D6F1"/>
                </a:solidFill>
                <a:latin typeface="Calibri"/>
              </a:rPr>
              <a:t>17 de March de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2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291072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00"/>
                </a:solidFill>
                <a:latin typeface="Calibri"/>
              </a:rPr>
              <a:t>Gracias. Preguntas finales.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
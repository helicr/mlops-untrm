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 Light"/>
              </a:rPr>
              <a:t>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9BD5"/>
                </a:solidFill>
                <a:latin typeface="Calibri Light"/>
              </a:rPr>
              <a:t>Ciclo de Vida de un Modelo de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0"/>
                </a:solidFill>
                <a:latin typeface="Calibri Light"/>
              </a:rPr>
              <a:t>Notebooks 00 – 07  |  Flujo Completo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31920"/>
            <a:ext cx="5303520" cy="548640"/>
          </a:xfrm>
          <a:prstGeom prst="rect">
            <a:avLst/>
          </a:prstGeom>
          <a:solidFill>
            <a:srgbClr val="2D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93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Dataset: California Housing  |  20,640 muestras  |  Modelo: 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scikit-learn  ·  MLflow  ·  FastAPI  ·  Docker  ·  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  <a:latin typeface="Calibri Light"/>
              </a:rPr>
              <a:t>Prof. Helí Campos 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Índice de Notebooks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28016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280160"/>
            <a:ext cx="4617720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0759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Introducción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64207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Visión general del proyecto MLOps y stack tecnológico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50292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28346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606039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606039"/>
            <a:ext cx="461772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3347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90087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Análisis Exploratorio de Datos — calidad, correlaciones, geografía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02920" cy="100584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93192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931920"/>
            <a:ext cx="4617720" cy="34747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5935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Ingeniería de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5 features derivadas, data leakage, StandardScaler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502920" cy="100584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5486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25780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5257800"/>
            <a:ext cx="4617720" cy="347472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8523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Entrenamiento con MLflow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4184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3 modelos, tracking de experimentos, comparación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59" y="1280160"/>
            <a:ext cx="5029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88736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79" y="128016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79" y="1280160"/>
            <a:ext cx="46177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30759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Selección del Modelo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1664207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Cross-Validation, bias-variance, curvas de aprendizaje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59" y="2606039"/>
            <a:ext cx="502920" cy="10058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8736" y="28346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79" y="2606039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79" y="2606039"/>
            <a:ext cx="461772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63347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Evaluación Final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990087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Gate de calidad en test set virgen — APROBADO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59" y="3931920"/>
            <a:ext cx="502920" cy="100584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88736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79" y="393192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79" y="3931920"/>
            <a:ext cx="4617720" cy="347472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95935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Despliegue y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31596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Docker + FastAPI + Web UI + Swagger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59" y="5257800"/>
            <a:ext cx="502920" cy="10058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88736" y="5486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79" y="5257800"/>
            <a:ext cx="4617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79" y="5257800"/>
            <a:ext cx="4617720" cy="34747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285232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Monitoreo y Re-entrenamiento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641848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PSI, drift, GitHub Actions, ciclo MLOps completo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3D5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Visión general, dataset y stack tecnológico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1 de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00 –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MLOps: Ciclo de Vida del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 Light"/>
              </a:rPr>
              <a:t>¿Qué vamos a construir?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 Light"/>
              </a:rPr>
              <a:t>Un pipeline MLOps completo end-to-end para predecir el precio de viviendas en California, pasando por todas las etapas del ciclo de vida: datos → features → entrenamiento → evaluación → despliegue → monitoreo.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64592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76148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 Ligh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697480"/>
            <a:ext cx="1645920" cy="64008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79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76148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 Light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697480"/>
            <a:ext cx="1645920" cy="64008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Entrena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76148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 Light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199" y="2697480"/>
            <a:ext cx="1645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Evalúa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7" y="276148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 Light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697480"/>
            <a:ext cx="1645920" cy="64008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Despliega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76148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 Light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2697480"/>
            <a:ext cx="1645920" cy="640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Monitorea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  <a:latin typeface="Calibri Light"/>
              </a:rPr>
              <a:t>Dataset: California Housing (sklearn)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20,640 viviendas del censo de California 1990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8 features originales (MedInc, HouseAge, AveRooms...)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Target: precio mediano de la vivienda (en $100K)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Objetivo: RMSE &lt; 0.5  |  R² &gt; 0.80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  <a:latin typeface="Calibri Light"/>
              </a:rPr>
              <a:t>Ciclo MLOps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Reproducibilidad de experimentos (MLflow)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Versionado de modelos y artefactos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API REST lista para producción (FastAPI)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CI/CD automatizado (GitHub Actions)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Monitoreo de drift y re-entrenamiento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00 – 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Datos y Modelos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39"/>
            <a:ext cx="53035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scikit-learn — algoritmos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pandas / numpy — manipulación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StandardScaler — normalización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303520" cy="41148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16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39"/>
            <a:ext cx="53035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MLflow — logging de parámetros y métricas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MLflow UI — comparación 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Artefactos: modelo.pkl + scaler.pkl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79"/>
            <a:ext cx="5303520" cy="41148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7705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Serving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59"/>
            <a:ext cx="53035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433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FastAPI — API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5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Docker + docker-compose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7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Web UI estática (/ui)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49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Swagger docs (/docs)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840479"/>
            <a:ext cx="5303520" cy="4114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87705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51959"/>
            <a:ext cx="53035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433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GitHub Actions — 4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005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pytest + flake8 — calidad de 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577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GHCR — registro de imágenes 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714999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•  Cron semanal — monitoreo automático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00 – Conceptos Clave que Aprenderás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Data Leakage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7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Usar información del futuro o del test set durante el entrenamiento. Se evita haciendo fit del scaler solo en train.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16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Bias-Variance Tradeoff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64207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Equilibrio entre subajuste (bias alto) y sobreajuste (varianza alta). Cross-validation ayuda a encontrar el punto óptimo.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54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Training-Serving Parity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01568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El scaler usado en producción debe ser exactamente el mismo que se usó durante el entrenamiento. Se serializa como scaler.pkl.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17520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054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Model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401568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47472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Versionado y registro de modelos en MLflow para rastrear qué modelo está en producción y con qué métricas fue aprobado.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9145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PSI — Population Stability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38927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12079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Métrica para detectar data drift. PSI &gt; 0.2 indica drift significativo y dispara el re-entrenamiento automático del modelo.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754879"/>
            <a:ext cx="5349240" cy="38404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9145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Gate de Calidad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138927"/>
            <a:ext cx="5349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212079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Umbral mínimo de rendimiento (RMSE &lt; 0.5, R² &gt; 0.80) que el modelo debe superar antes de desplegarse a producción.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1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Calidad de datos, correlaciones y patrones geográficos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2 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01 – EDA: Calidad de Datos y Distribuciones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1: Comprensión del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Calibri Light"/>
              </a:rPr>
              <a:t>Análisis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0 valores nulos en todo el dataset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0 registros duplicados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20,640 registros, 8 features + 1 target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Tipos: float64 (todas las columnas)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Rango target: 0.15 – 5.00 ($15K – $500K)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Calibri Light"/>
              </a:rPr>
              <a:t>Distribución del Target (MedHouseVal)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45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Distribución asimétrica a la derecha (skewed)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Valores capados en 5.0 (artefacto del censo)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Media: $206K  |  Mediana: $179K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Concentración de precios bajos (&lt; $200K)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Calibri Light"/>
              </a:rPr>
              <a:t>Features más relevantes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92024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873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MedInc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074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r = 0.688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4846320"/>
            <a:ext cx="1920240" cy="4572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4873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AveRooms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5074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r = 0.152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4846320"/>
            <a:ext cx="1920240" cy="45720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4873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HouseAge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5074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r = 0.106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4846320"/>
            <a:ext cx="19202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4873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Latitude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5074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r = -0.144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846320"/>
            <a:ext cx="19202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48737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AveOccup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07492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r = -0.023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01 – EDA: Correlaciones y Patrones Geográficos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1: Comprensión del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Calibri Light"/>
              </a:rPr>
              <a:t>Hallazgos principales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49240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Correlación MedInc ↑ → Precio 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5349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Calibri Light"/>
              </a:rPr>
              <a:t>El ingreso mediano del hogar es el predictor más fuerte (r=0.688). Zonas de altos ingresos concentran los precios más altos.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49240" cy="38404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Patrón geográfico costero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21408"/>
            <a:ext cx="5349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Calibri Light"/>
              </a:rPr>
              <a:t>Los precios más altos se concentran en la franja costera (San Francisco, Los Angeles, San Diego). Las áreas del valle interior tienen precios significativamente menores.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349240" cy="384048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68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Outliers detectados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5349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0740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Calibri Light"/>
              </a:rPr>
              <a:t>AveRooms y AveOccup tienen outliers extremos (&gt;10 habitaciones/persona). Representan situaciones inusuales como hoteles o residencias colectivas.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53492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68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Multicolinealidad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315968"/>
            <a:ext cx="5349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40740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Calibri Light"/>
              </a:rPr>
              <a:t>AveRooms y AveBedrms tienen alta correlación entre sí (r=0.85). Esto sugiere que features derivadas (ratio) serán más informativas.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01 – EDA: Conclusiones y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Calibri Light"/>
              </a:rPr>
              <a:t>Conclusiones del 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El dataset está limpio: sin nulos ni duplicados — no se requiere limpieza especial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MedInc es la feature dominante (r=0.688) — cualquier modelo debe capturar esta señal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El target tiene un techo artificial en 5.0 — las predicciones altas tendrán mayor error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Los patrones geográficos son relevantes — la ubicación (lat/lon) importa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AveOccup es un ratio ruidoso — candidato a transformación o feature engineering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Calibri Light"/>
              </a:rPr>
              <a:t>•  Las correlaciones entre features sugieren crear ratios (rooms/person, income/room)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09728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675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Output generado:  data/raw/housing_raw.csv  →  lo usa el Notebook 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1E9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Ingeniería de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Features derivadas, data leakage y estandarización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3 de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02 – Ingeniería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2: Transformación del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86B"/>
                </a:solidFill>
                <a:latin typeface="Calibri Light"/>
              </a:rPr>
              <a:t>De 8 a 13 features: ¿Qué se crea y por qué?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011680" cy="74980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rooms_per_person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FF"/>
                </a:solidFill>
                <a:latin typeface="Calibri Light"/>
              </a:rPr>
              <a:t>AveRooms / AveOccup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373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9019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Captura la densidad real del hogar. Más informativo que habitaciones brutas.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2011680" cy="74980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income_per_room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FF"/>
                </a:solidFill>
                <a:latin typeface="Calibri Light"/>
              </a:rPr>
              <a:t>MedInc / AveRooms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6517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8163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Combina poder adquisitivo con tamaño. Proxy de valor por habitación.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2011680" cy="74980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393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bedroom_ratio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5020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FF"/>
                </a:solidFill>
                <a:latin typeface="Calibri Light"/>
              </a:rPr>
              <a:t>AveBedrms / AveRooms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5661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37307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Elimina la multicolinealidad entre AveBedrms y AveRooms.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2011680" cy="74980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537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dist_sacramento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6460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FF"/>
                </a:solidFill>
                <a:latin typeface="Calibri Light"/>
              </a:rPr>
              <a:t>Distancia euclidiana a Sacramento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4805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645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Captura accesibilidad a la capital del estado.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94960"/>
            <a:ext cx="2011680" cy="749808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6811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dist_los_angeles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7900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E6FF"/>
                </a:solidFill>
                <a:latin typeface="Calibri Light"/>
              </a:rPr>
              <a:t>Distancia euclidiana a Los Angeles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394960"/>
            <a:ext cx="9418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55595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Captura proximidad al mayor mercado de vivienda de California.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02 – Data Leakage y Estandarización Correcta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2: Transformación del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6B"/>
                </a:solidFill>
                <a:latin typeface="Calibri Light"/>
              </a:rPr>
              <a:t>¿Qué es Data Leakage?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Contaminación del entrenamiento con información que no estaría disponible en producción.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3035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MAL: scaler.fit(X_total) — mezcla train y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07792"/>
            <a:ext cx="530352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BIEN: scaler.fit(X_train) → transform(X_test)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6B"/>
                </a:solidFill>
                <a:latin typeface="Calibri Light"/>
              </a:rPr>
              <a:t>Proceso correcto de split + 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1. Cargar features (13 columnas)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2. train_test_split → 80% train, 20% test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3. scaler.fit(X_train) — aprende media y std del train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4. X_train_scaled = scaler.transform(X_train)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5. X_test_scaled = scaler.transform(X_test)  ← sin fit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Calibri Light"/>
              </a:rPr>
              <a:t>•  6. Guardar scaler.pkl para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6B"/>
                </a:solidFill>
                <a:latin typeface="Calibri Light"/>
              </a:rPr>
              <a:t>Resumen final del dataset preparado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8 features originales + 5 derivadas = 13 features en total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Train: 16,512 muestras  |  Test: 4,128 muestras (80/20)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Todos los valores escalados con media=0, std=1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scaler.pkl guardado para garantizar training-serving parity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4535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Output:  data/processed/train.csv  ·  test.csv  ·  experiments/scaler.pkl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994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Entrenamiento con MLflow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3 modelos, tracking y comparación de experimentos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4 de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03 – Entrenamiento con MLflow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3: Tracking de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C9F"/>
                </a:solidFill>
                <a:latin typeface="Calibri Light"/>
              </a:rPr>
              <a:t>¿Qué registra MLflow por cada run?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Parámetros del modelo (n_estimators, max_depth...)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Métricas en train y test (RMSE, R², MAE)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Artefactos: modelo.pkl + scaler.pkl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Tags: nombre del modelo, timestamp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Acceso vía MLflow UI (mlflow 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C9F"/>
                </a:solidFill>
                <a:latin typeface="Calibri Light"/>
              </a:rPr>
              <a:t>Los 3 modelos entrenados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30352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Modelo 1: Linear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299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Modelo base — rápido y 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30352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Modelo 2: 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015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Ensemble de árboles — captura no-linealidades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530352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Modelo 3: Gradient Boosting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731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Boosting secuencial — máximo rendimiento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03 – Resultados de los Experimentos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C9F"/>
                </a:solidFill>
                <a:latin typeface="Calibri Light"/>
              </a:rPr>
              <a:t>Comparativa de métricas en train y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56032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647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59" y="1737360"/>
            <a:ext cx="146304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RMSE 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146304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64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RMSE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737360"/>
            <a:ext cx="128016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647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R² 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59" y="1737360"/>
            <a:ext cx="128016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17647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R²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737360"/>
            <a:ext cx="1737360" cy="38404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6479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Estado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774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Linear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59" y="224028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2377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0.6719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24028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377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0.6786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240280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37744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0.6623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2240280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237744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0.6312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240280"/>
            <a:ext cx="173736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37744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Underfitting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71800"/>
            <a:ext cx="256032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1089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59" y="2971800"/>
            <a:ext cx="14630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0.2319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971800"/>
            <a:ext cx="14630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0.4944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971800"/>
            <a:ext cx="128016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10896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0.9598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59" y="2971800"/>
            <a:ext cx="128016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310896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0.8135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2971800"/>
            <a:ext cx="1737360" cy="658368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10896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Overfitting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703320"/>
            <a:ext cx="2560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8404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Gradient Boosting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59" y="370332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79" y="3840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0.3399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70332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3840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0.4591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3703320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84048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0.9136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59" y="3703320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79" y="384048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0.8391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3703320"/>
            <a:ext cx="1737360" cy="65836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84048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Mejor balance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4663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B2C9F"/>
                </a:solidFill>
                <a:latin typeface="Calibri Light"/>
              </a:rPr>
              <a:t>Gradient Boosting logra el mejor equilibrio bias-variance: RMSE test 0.4591 cumple el umbral de producción (&lt; 0.5).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257800"/>
            <a:ext cx="11430000" cy="50292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321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Cómo ver los resultados: ejecutar  mlflow ui  y abrir http://127.0.0.1:5000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DE5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Selección del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Cross-Validation, bias-variance y decisión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5 de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04 – Selección del Modelo: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4: Evaluación Rigurosa y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 Light"/>
              </a:rPr>
              <a:t>¿Por qué Cross-Validation y no solo train/test?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 Light"/>
              </a:rPr>
              <a:t>Una sola partición train/test puede ser afortunada o desafortunada. Con CV de 5 folds evaluamos el modelo en 5 subconjuntos distintos y obtenemos una estimación más robusta y su variabilidad.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 Light"/>
              </a:rPr>
              <a:t>Resultados de CV 5-Fold (RMSE)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3108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090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063240"/>
            <a:ext cx="14630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3090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RMSE 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063240"/>
            <a:ext cx="12801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30906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Std Dev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063240"/>
            <a:ext cx="12801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09067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R² CV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063240"/>
            <a:ext cx="20116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090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Diagnóstico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93008"/>
            <a:ext cx="3108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1187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Linear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493008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79" y="361187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0.6786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493008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59" y="361187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±0.0320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493008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61187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0.6312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493008"/>
            <a:ext cx="20116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61187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Alto bias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51376"/>
            <a:ext cx="31089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702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151376"/>
            <a:ext cx="14630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79" y="42702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0.4995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151376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59" y="427024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±0.0019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151376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427024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0.8135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151376"/>
            <a:ext cx="2011680" cy="59436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42702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Alta varianza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09744"/>
            <a:ext cx="3108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9286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 Light"/>
              </a:rPr>
              <a:t>Gradient Boosting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4809744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79" y="49286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0.4652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4809744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4928616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±0.0032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809744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59" y="4928616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 Light"/>
              </a:rPr>
              <a:t>0.8391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4809744"/>
            <a:ext cx="201168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9286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Seleccionado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 Light"/>
              </a:rPr>
              <a:t>Gradient Boosting: menor RMSE (0.4652) y menor variabilidad (±0.0032) → más estable y mejor rendimiento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04 – Análisis Bias-Variance y Decisión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 Light"/>
              </a:rPr>
              <a:t>Diagnóstico de cada 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Linear Regression — Alto Bias (Underfitting)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75688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RMSE train ≈ RMSE test ≈ 0.68 — el modelo es igual de malo en ambos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No puede capturar las no-linealidades del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6090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Las relaciones precio-features no son lineales — LR falla estructuralmente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Diagnóstico: bias alto, varianza baja → necesita modelo más complejo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1338560" cy="384048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826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Random Forest — Alta Varianza (Overfitting)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0168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2160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RMSE train = 0.23 vs RMSE test = 0.49 — brecha de 0.26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6849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Memoriza el training set pero no generaliza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1538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La std de CV (±0.0019) es muy baja pero el RMSE absoluto es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622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Diagnóstico: bias bajo, varianza alta → sobreajustado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00600"/>
            <a:ext cx="1133856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371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Gradient Boosting — Balance Óptimo (Seleccionado)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84648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760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RMSE train = 0.34 vs RMSE test = 0.46 — brecha aceptable de 0.12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22975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RMSE CV = 0.4652 &lt; umbral de 0.5 — cumple el gate de calidad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986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R² CV = 0.8391 &gt; 0.80 — explica el 84% de la variabilidad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1675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Calibri Light"/>
              </a:rPr>
              <a:t>•  Diagnóstico: balance bias-varianza óptimo → generaliza bien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3C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Evaluación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Gate de calidad en test set virgen — APROBADO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6 de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05 – Evaluación Final: Gate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5: Decisión de Despliegue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 Light"/>
              </a:rPr>
              <a:t>Evaluación en test set virgen — nunca visto durante el entrenamiento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474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474720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62626"/>
                </a:solidFill>
                <a:latin typeface="Calibri Light"/>
              </a:rPr>
              <a:t>0.4591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Umbral: &lt;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 Light"/>
              </a:rPr>
              <a:t>APROBADO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37360"/>
            <a:ext cx="3474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737360"/>
            <a:ext cx="3474720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762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62626"/>
                </a:solidFill>
                <a:latin typeface="Calibri Light"/>
              </a:rPr>
              <a:t>0.8391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Umbral: &gt; 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Calibri Light"/>
              </a:rPr>
              <a:t>APROBADO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737360"/>
            <a:ext cx="3474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1737360"/>
            <a:ext cx="347472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1762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62626"/>
                </a:solidFill>
                <a:latin typeface="Calibri Light"/>
              </a:rPr>
              <a:t>0.3027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240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 Light"/>
              </a:rPr>
              <a:t>Umbral: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 Light"/>
              </a:rPr>
              <a:t>INFO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1097280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MODELO APROBADO PARA PRODUCCIÓN 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 Light"/>
              </a:rPr>
              <a:t>Análisis complementario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Residuos centrados en cero — sin sesgo sistemático del modelo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Q-Q plot confirma normalidad aproximada de los residuos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Homocedasticidad aceptable — varianza de errores es relativamente uniforme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Ejemplo SF: precio real $450K, predicción $442K (error 1.8%)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Ejemplo rural: precio real $71K, predicción $69K (error 2.8%)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05 – Importancia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  <a:latin typeface="Calibri Light"/>
              </a:rPr>
              <a:t>¿Qué variables tiene más peso en las predicciones del modelo?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013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01368"/>
            <a:ext cx="6400800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58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dist_los_angeles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258568"/>
            <a:ext cx="1477107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3187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15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AveOccup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715768"/>
            <a:ext cx="984738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0818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72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dist_sacramento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172968"/>
            <a:ext cx="861646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7726" y="3200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301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Latitude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630168"/>
            <a:ext cx="738553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4633" y="3657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873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income_per_room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087368"/>
            <a:ext cx="615461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1541" y="4114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44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rooms_per_person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544568"/>
            <a:ext cx="492369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8449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HouseAge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5001768"/>
            <a:ext cx="369276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5356" y="5029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58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Longitude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5458968"/>
            <a:ext cx="246184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2264" y="5486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161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bedroom_ratio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5916168"/>
            <a:ext cx="137160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49172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 Light"/>
              </a:rPr>
              <a:t>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8B4C"/>
                </a:solidFill>
                <a:latin typeface="Calibri Light"/>
              </a:rPr>
              <a:t>MedInc domina (52%) — confirma el EDA. Las features derivadas de distancia y ratio aportan valor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F48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Despliegue y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Docker + FastAPI + Web UI +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7 de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06 – Despliegue: Arquitectura Docker +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6: Serving del Modelo en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66A00"/>
                </a:solidFill>
                <a:latin typeface="Calibri Light"/>
              </a:rPr>
              <a:t>Componentes del despliegue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65760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647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Docker 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249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Imagen: ghcr.io/helicr/mlops-api-viviendas:latest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1635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Puerto: 8000 (expuesto hacia el 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832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Volumen: experiments/ montado (modelo + scaler)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950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Arranque: docker-compose up -d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737360"/>
            <a:ext cx="3657600" cy="41148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7647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FastAPI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14884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2249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Framework ASGI de alto rendimiento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81635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Carga modelo.pkl y scaler.pkl al inicio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3832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Validación automática de inputs (Pydantic)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950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Documentación automática: /docs (Swagger)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657600" cy="4114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7647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 Light"/>
              </a:rPr>
              <a:t>Endpoints disponibles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14884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2249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GET  /health — estado del servicio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81635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POST /v1/predecir — predicción individual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3832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GET  /ui — interfaz web para usuarios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9502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•  GET  /docs — documentación interactiva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6A00"/>
                </a:solidFill>
                <a:latin typeface="Calibri Light"/>
              </a:rPr>
              <a:t>Flujo de una predicción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49240"/>
            <a:ext cx="137160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5413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Cliente (curl/Python/UI)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413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A00"/>
                </a:solidFill>
                <a:latin typeface="Calibri Light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5349240"/>
            <a:ext cx="1371600" cy="45720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0824" y="5413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POST /v1/predecir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5413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A00"/>
                </a:solidFill>
                <a:latin typeface="Calibri Light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4176" y="5349240"/>
            <a:ext cx="1371600" cy="45720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0752" y="5413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Scaler.transform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5413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A00"/>
                </a:solidFill>
                <a:latin typeface="Calibri Light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4104" y="5349240"/>
            <a:ext cx="1371600" cy="45720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5413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Modelo.predict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4" y="54132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A00"/>
                </a:solidFill>
                <a:latin typeface="Calibri Light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4032" y="5349240"/>
            <a:ext cx="137160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5413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 Light"/>
              </a:rPr>
              <a:t>$ respuesta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06 – Predicciones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66A00"/>
                </a:solidFill>
                <a:latin typeface="Calibri Light"/>
              </a:rPr>
              <a:t>Ejemplos reales consumiendo la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2194560" cy="7498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84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San Francisco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783080"/>
            <a:ext cx="6583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984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MedInc=8.5, HouseAge=15, AveRooms=6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783080"/>
            <a:ext cx="2560320" cy="7498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47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$432,559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2194560" cy="749808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Los Angeles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651760"/>
            <a:ext cx="6583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8529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MedInc=6.2, HouseAge=25, AveRooms=5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651760"/>
            <a:ext cx="2560320" cy="749808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816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$325,317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39"/>
            <a:ext cx="219456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2160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San Diego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520439"/>
            <a:ext cx="6583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372160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MedInc=4.8, HouseAge=20, AveRooms=5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520439"/>
            <a:ext cx="256032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685031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$167,442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2194560" cy="74980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590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Sacramento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389120"/>
            <a:ext cx="6583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590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MedInc=3.5, HouseAge=35, AveRooms=5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4389120"/>
            <a:ext cx="2560320" cy="749808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45537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$125,108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219456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589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Valle Central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5257800"/>
            <a:ext cx="6583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54589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MedInc=2.1, HouseAge=40, AveRooms=4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5257800"/>
            <a:ext cx="256032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5422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$74,194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A00"/>
                </a:solidFill>
                <a:latin typeface="Calibri Light"/>
              </a:rPr>
              <a:t>Interfaz Web (/ui) — para usuarios sin experiencia técnica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 Light"/>
              </a:rPr>
              <a:t>Formulario con 8 campos → muestra predicción en USD y contexto geográfico. Accesible en http://localhost:8000/ui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38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CFF"/>
                </a:solidFill>
                <a:latin typeface="Calibri Light"/>
              </a:rPr>
              <a:t>Notebook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Monitoreo y Re-entrenamiento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CF0"/>
                </a:solidFill>
                <a:latin typeface="Calibri Light"/>
              </a:rPr>
              <a:t>PSI, drift, pipeline automático y cierre del ciclo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2618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 Light"/>
              </a:rPr>
              <a:t>Etapa 8 de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07 – Monitoreo: ¿Por Qué el Modelo se Degrada?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  <a:latin typeface="Calibri Light"/>
              </a:rPr>
              <a:t>Etapa 7: Monitoreo y Re-entrenamiento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2A"/>
                </a:solidFill>
                <a:latin typeface="Calibri Light"/>
              </a:rPr>
              <a:t>El mundo real cambia — los modelos estáticos se degradan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36118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Data Drift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2860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La distribución de los inputs cambia con el tiempo (precios de materiales, demografía, regulaciones). El modelo ve datos distintos a los que vio en entrenamiento.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83080"/>
            <a:ext cx="3611880" cy="4114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810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Concept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2860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La relación entre features y target cambia. El mismo ingreso mediano puede predecir precios distintos si el mercado inmobiliario sufre un shock.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783080"/>
            <a:ext cx="3611880" cy="41148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Model Staleness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945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2860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El modelo fue entrenado con datos de 1990. Con el tiempo los patrones se desactualizan y las predicciones pierden precisión.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C2A"/>
                </a:solidFill>
                <a:latin typeface="Calibri Light"/>
              </a:rPr>
              <a:t>PSI — Population Stability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164592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9377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PSI &lt; 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Sin cambio significativo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892040"/>
            <a:ext cx="164592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49377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PSI 0.10 – 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Cambio moderado — vigilar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892040"/>
            <a:ext cx="16459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49377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PSI &gt; 0.20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Drift significativo — re-entrenar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07 – Simulación: Degradación Semana 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2A"/>
                </a:solidFill>
                <a:latin typeface="Calibri Light"/>
              </a:rPr>
              <a:t>Cómo el drift acumulado degrada el RMSE en producción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19456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5564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Período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37360"/>
            <a:ext cx="146304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7556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737360"/>
            <a:ext cx="128016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755648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37360"/>
            <a:ext cx="128016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755648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PSI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737360"/>
            <a:ext cx="2560320" cy="36576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755648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Estado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04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194560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39" y="23042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0.4808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194560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30428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0.8125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194560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230428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194560"/>
            <a:ext cx="256032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304288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 Light"/>
              </a:rPr>
              <a:t>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52928"/>
            <a:ext cx="21945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9626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Semana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852928"/>
            <a:ext cx="14630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39" y="2962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0.4950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852928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2962656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0.8020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2852928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2962656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0.0279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852928"/>
            <a:ext cx="256032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962656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 Light"/>
              </a:rPr>
              <a:t>Estable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11296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6210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Semana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511296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39" y="36210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0.5318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511296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36210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0.7690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511296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6210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0.1152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3511296"/>
            <a:ext cx="256032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621024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 Light"/>
              </a:rPr>
              <a:t>Moderado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69664"/>
            <a:ext cx="21945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2793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Semana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4169664"/>
            <a:ext cx="14630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39" y="42793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0.6105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4169664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4279392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0.7034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169664"/>
            <a:ext cx="1280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4279392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0.2483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4169664"/>
            <a:ext cx="256032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27939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 Light"/>
              </a:rPr>
              <a:t>DRIFT DETECTADO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828031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93775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Semana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4828031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39" y="493775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0.7211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4828031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493775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0.6154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4828031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493775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2626"/>
                </a:solidFill>
                <a:latin typeface="Calibri Light"/>
              </a:rPr>
              <a:t>0.3925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4828031"/>
            <a:ext cx="2560320" cy="5943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03720" y="4937759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 Light"/>
              </a:rPr>
              <a:t>ALARMA CRITICA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5577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5C2A"/>
                </a:solidFill>
                <a:latin typeface="Calibri Light"/>
              </a:rPr>
              <a:t>En semana 3: PSI = 0.2483 &gt; umbral → alerta activada automáticamente → GitHub Actions dispara re-entrenamiento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07 – Pipeline Automático de Re-entrenamiento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2A"/>
                </a:solidFill>
                <a:latin typeface="Calibri Light"/>
              </a:rPr>
              <a:t>Flujo completo: detección → re-entrenamiento → despliegue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59436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836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19072"/>
            <a:ext cx="292608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1. Monitor semanal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719072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1847088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Job `monitoreo` en GitHub Actions (cron lunes 2am UTC). Calcula PSI sobre datos de producción vs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59436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7980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633472"/>
            <a:ext cx="292608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163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2. Detección de drift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633472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2761488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Si PSI &gt; 0.2: output `requiere_reentrenamiento=true`. Activa los jobs siguientes del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47872"/>
            <a:ext cx="594360" cy="777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712463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547872"/>
            <a:ext cx="2926080" cy="77724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307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3. Re-entrenamiento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547872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3675887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Job `entrenar-evaluar` ejecuta train.py + evaluar.py con datos actualizados. Genera nuevo modelo.pkl.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62272"/>
            <a:ext cx="59436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626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462272"/>
            <a:ext cx="292608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451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4. Gate de calidad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4462272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4590288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Si nuevo RMSE &lt; 0.5 y R² &gt; 0.80: el modelo pasa el gate. Si falla: pipeline se detiene, se mantiene el modelo anterior.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76672"/>
            <a:ext cx="594360" cy="77724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5412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376672"/>
            <a:ext cx="2926080" cy="777240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 Light"/>
              </a:rPr>
              <a:t>5. Despliegue automático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5376672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5504688"/>
            <a:ext cx="7818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 Light"/>
              </a:rPr>
              <a:t>Job `despliegue`: docker build + push a GHCR. Nueva imagen lista para producción con el modelo mejorado.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Calibri Light"/>
              </a:rPr>
              <a:t>Tres formas de disparar el re-entrenamiento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07 – Cierre del Ciclo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2A"/>
                </a:solidFill>
                <a:latin typeface="Calibri Light"/>
              </a:rPr>
              <a:t>El monitoreo convierte el pipeline en un sistema vivo y auto-mejorable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572768"/>
            <a:ext cx="1463040" cy="512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645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2034" y="2330186"/>
            <a:ext cx="1463040" cy="5120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54" y="240333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Monitor PSI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0482" y="4032088"/>
            <a:ext cx="1463040" cy="512064"/>
          </a:xfrm>
          <a:prstGeom prst="rect">
            <a:avLst/>
          </a:prstGeom>
          <a:solidFill>
            <a:srgbClr val="D6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6202" y="4105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Drift?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2075" y="5396909"/>
            <a:ext cx="1463040" cy="512064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7795" y="547006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Re-entrena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6404" y="5396909"/>
            <a:ext cx="1463040" cy="512064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2124" y="547006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997" y="4032088"/>
            <a:ext cx="1463040" cy="512064"/>
          </a:xfrm>
          <a:prstGeom prst="rect">
            <a:avLst/>
          </a:prstGeom>
          <a:solidFill>
            <a:srgbClr val="7B2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3717" y="4105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Despliega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76445" y="2330186"/>
            <a:ext cx="1463040" cy="512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65" y="240333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 Light"/>
              </a:rPr>
              <a:t>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584448"/>
            <a:ext cx="1645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C2A"/>
                </a:solidFill>
                <a:latin typeface="Calibri Light"/>
              </a:rPr>
              <a:t>Ciclo continuo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Los 8 notebooks cubren el ciclo MLOps completo de producción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El modelo se mejora automáticamente cuando la calidad cae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GitHub Actions orquesta todo: CI + ML gate + CD + monitoreo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Calibri Light"/>
              </a:rPr>
              <a:t>•  El sistema es reproducible, versionado y listo para escalar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3657600"/>
            <a:ext cx="3502152" cy="3200400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0"/>
            <a:ext cx="4572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Ciclo MLOps Completado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9BD5"/>
                </a:solidFill>
                <a:latin typeface="Calibri Light"/>
              </a:rPr>
              <a:t>8 notebooks · Datos → Features → Entrenamiento → Selección → Evaluación → Despliegue → Monitoreo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✓  Modelo Gradient Boosting: RMSE=0.4591, R²=0.8391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59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✓  API REST en producción con Docker y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98264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✓  CI/CD automatizado con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37176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 Light"/>
              </a:rPr>
              <a:t>✓  Monitoreo de drift con re-entrenamiento automático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  <a:latin typeface="Calibri Light"/>
              </a:rPr>
              <a:t>Prof. Helí Campos 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
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88952" cy="64008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MLOps en 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71800"/>
            <a:ext cx="9418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6B00"/>
                </a:solidFill>
                <a:latin typeface="Calibri"/>
              </a:rPr>
              <a:t>Predicción de Precio de Viviendas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5661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Ejemplo paso a paso — Dataset California Housing</a:t>
            </a:r>
          </a:p>
        </p:txBody>
      </p:sp>
      <p:pic>
        <p:nvPicPr>
          <p:cNvPr id="8" name="Picture 7" descr="foto_instru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4206240"/>
            <a:ext cx="182880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0" y="6080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Instructor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612648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CCFF"/>
                </a:solidFill>
                <a:latin typeface="Calibri"/>
              </a:rPr>
              <a:t>🎓  Formación MLOps  ·  6 Notebooks  ·  Código reproducible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54864" cy="68580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3A70"/>
                </a:solidFill>
                <a:latin typeface="Calibri"/>
              </a:rPr>
              <a:t>Dataset: California Housing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777240"/>
            <a:ext cx="5029200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20.640 viviendas de California  (1990 Census)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Objetivo: predecir el precio mediano de una vivienda.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8 variables de entrada: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  • MedInc — ingreso mediano del vecindario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  • HouseAge — antigüedad de las viviendas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  • AveRooms — habitaciones por hogar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  • AveBedrms — dormitorios por hogar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  • Population — población del bloque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  • AveOccup — personas por hogar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  • Latitude / Longitude — ubicación geográfica</a:t>
            </a:r>
          </a:p>
        </p:txBody>
      </p:sp>
      <p:pic>
        <p:nvPicPr>
          <p:cNvPr id="8" name="Picture 7" descr="01_eda_exploratorio_img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777240"/>
            <a:ext cx="6126480" cy="5120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0040" y="6400800"/>
            <a:ext cx="11868912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Fuente: sklearn.datasets — datos reales del censo de California 1990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3A70"/>
                </a:solidFill>
                <a:latin typeface="Calibri"/>
              </a:rPr>
              <a:t>¿Qué nos dicen los datos?  Análisis Exploratorio</a:t>
            </a:r>
          </a:p>
        </p:txBody>
      </p:sp>
      <p:pic>
        <p:nvPicPr>
          <p:cNvPr id="6" name="Picture 5" descr="01_eda_exploratorio_im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713232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3258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A70"/>
                </a:solidFill>
                <a:latin typeface="Calibri"/>
              </a:rPr>
              <a:t>¿Qué observamos?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783080"/>
            <a:ext cx="4206240" cy="4114800"/>
          </a:xfrm>
          <a:prstGeom prst="rect">
            <a:avLst/>
          </a:prstGeom>
          <a:solidFill>
            <a:srgbClr val="E8F0FE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892807"/>
            <a:ext cx="39319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◉  La variable objetivo (precio) tiene distribución sesgada a la derecha — hay muchas viviendas baratas y pocas muy caras.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◉  Las variables de ingresos y precio están correlacionadas positivamente.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◉  Existen valores techo en 5.0 ($500k) que indican truncamiento artificial en los datos.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◉  Los datos geográficos permiten segmentar por zonas costeras vs interiores.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3A70"/>
                </a:solidFill>
                <a:latin typeface="Calibri"/>
              </a:rPr>
              <a:t>Correlación entre variables — ¿qué predice el precio?</a:t>
            </a:r>
          </a:p>
        </p:txBody>
      </p:sp>
      <p:pic>
        <p:nvPicPr>
          <p:cNvPr id="6" name="Picture 5" descr="01_eda_exploratorio_im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8448"/>
            <a:ext cx="713232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A70"/>
                </a:solidFill>
                <a:latin typeface="Calibri"/>
              </a:rPr>
              <a:t>Decisiones clave: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737360"/>
            <a:ext cx="4206240" cy="4389120"/>
          </a:xfrm>
          <a:prstGeom prst="rect">
            <a:avLst/>
          </a:prstGeom>
          <a:solidFill>
            <a:srgbClr val="FFE5CC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847088"/>
            <a:ext cx="393192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▶  MedInc (ingresos) es la variable con mayor correlación con el precio (r ≈ 0.69). Es el predictor más potente.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Latitude correlaciona negativamente: al norte los precios bajan.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AveRooms tiene correlación moderada — más habitaciones = precio mayor.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Pocas correlaciones entre predictores → no hay multicolinealidad severa.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3A70"/>
                </a:solidFill>
                <a:latin typeface="Calibri"/>
              </a:rPr>
              <a:t>Distribución geográfica del precio en California</a:t>
            </a:r>
          </a:p>
        </p:txBody>
      </p:sp>
      <p:pic>
        <p:nvPicPr>
          <p:cNvPr id="6" name="Picture 5" descr="01_eda_exploratorio_img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8448"/>
            <a:ext cx="713232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A70"/>
                </a:solidFill>
                <a:latin typeface="Calibri"/>
              </a:rPr>
              <a:t>Insights geográficos: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737360"/>
            <a:ext cx="4206240" cy="4389120"/>
          </a:xfrm>
          <a:prstGeom prst="rect">
            <a:avLst/>
          </a:prstGeom>
          <a:solidFill>
            <a:srgbClr val="E8F8EE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847088"/>
            <a:ext cx="393192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▶  La costa de California concentra los precios más altos (San Francisco, Los Ángeles).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Las zonas del interior (Valle Central) tienen precios significativamente menores.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La latitud y longitud son features relevantes — el modelo puede aprender patrones geográficos.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Clustering visual: zonas metropolitanas son outliers de precio hacia arriba.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3A70"/>
                </a:solidFill>
                <a:latin typeface="Calibri"/>
              </a:rPr>
              <a:t>Variables más influyentes en el precio</a:t>
            </a:r>
          </a:p>
        </p:txBody>
      </p:sp>
      <p:pic>
        <p:nvPicPr>
          <p:cNvPr id="6" name="Picture 5" descr="01_eda_exploratorio_img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8448"/>
            <a:ext cx="713232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A70"/>
                </a:solidFill>
                <a:latin typeface="Calibri"/>
              </a:rPr>
              <a:t>¿Qué variables usar?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737360"/>
            <a:ext cx="4206240" cy="4389120"/>
          </a:xfrm>
          <a:prstGeom prst="rect">
            <a:avLst/>
          </a:prstGeom>
          <a:solidFill>
            <a:srgbClr val="E8F0FE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847088"/>
            <a:ext cx="393192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▶  Las visualizaciones de distribución revelan la forma real de cada variable.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Variables con alta asimetría requieren transformación (log) antes del modelado.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Population y AveOccup muestran outliers extremos que deben tratarse.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Este análisis guía directamente la etapa de Ingeniería de Features.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3A70"/>
                </a:solidFill>
                <a:latin typeface="Calibri"/>
              </a:rPr>
              <a:t>Outliers y patrones identificados en el EDA</a:t>
            </a:r>
          </a:p>
        </p:txBody>
      </p:sp>
      <p:pic>
        <p:nvPicPr>
          <p:cNvPr id="6" name="Picture 5" descr="01_eda_exploratorio_img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8448"/>
            <a:ext cx="713232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A70"/>
                </a:solidFill>
                <a:latin typeface="Calibri"/>
              </a:rPr>
              <a:t>Hallazgos: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737360"/>
            <a:ext cx="4206240" cy="4389120"/>
          </a:xfrm>
          <a:prstGeom prst="rect">
            <a:avLst/>
          </a:prstGeom>
          <a:solidFill>
            <a:srgbClr val="FFE5CC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847088"/>
            <a:ext cx="393192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▶  Los scatter plots revelan relaciones no lineales que los modelos lineales simples no pueden capturar.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Existe heteroscedasticidad: la varianza del precio aumenta con los ingresos.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Identificamos grupos de puntos con patrones distintos → posibles segmentos de mercado.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Conclusión: necesitamos modelos no lineales (Random Forest, Gradient Boosting).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3A70"/>
                </a:solidFill>
                <a:latin typeface="Calibri"/>
              </a:rPr>
              <a:t>Relación entre ingresos y precio de vivienda</a:t>
            </a:r>
          </a:p>
        </p:txBody>
      </p:sp>
      <p:pic>
        <p:nvPicPr>
          <p:cNvPr id="6" name="Picture 5" descr="01_eda_exploratorio_img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8448"/>
            <a:ext cx="713232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A70"/>
                </a:solidFill>
                <a:latin typeface="Calibri"/>
              </a:rPr>
              <a:t>La variable clave: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737360"/>
            <a:ext cx="4206240" cy="4389120"/>
          </a:xfrm>
          <a:prstGeom prst="rect">
            <a:avLst/>
          </a:prstGeom>
          <a:solidFill>
            <a:srgbClr val="E8F8EE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847088"/>
            <a:ext cx="393192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▶  MedInc (ingreso mediano del vecindario) explica casi el 50% de la varianza del precio.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La relación es positiva pero no perfectamente lineal — a mayores ingresos, la dispersión crece.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El techo artificial en $500k se ve claramente: muchos puntos en esa línea horizontal.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Para el negocio: predecir precios en vecindarios ricos es más incierto que en zonas de ingreso medio.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72591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Etapa 3: Ingeniería de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6B00"/>
                </a:solidFill>
                <a:latin typeface="Calibri"/>
              </a:rPr>
              <a:t>De datos crudos a variables inteligentes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74519"/>
            <a:ext cx="3749039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023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  <a:latin typeface="Calibri"/>
              </a:rPr>
              <a:t>rooms_per_person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21991"/>
            <a:ext cx="3474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00"/>
                </a:solidFill>
                <a:latin typeface="Calibri"/>
              </a:rPr>
              <a:t>AveRooms / AveOccup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41448"/>
            <a:ext cx="3474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Mide hacinamiento real por persona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874519"/>
            <a:ext cx="3749039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8" y="192023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  <a:latin typeface="Calibri"/>
              </a:rPr>
              <a:t>bedrooms_ratio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2221991"/>
            <a:ext cx="3474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00"/>
                </a:solidFill>
                <a:latin typeface="Calibri"/>
              </a:rPr>
              <a:t>AveBedrms / AveRooms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441448"/>
            <a:ext cx="3474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Proporción dormitorios vs habitaciones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66175" y="1874519"/>
            <a:ext cx="3749039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03336" y="192023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  <a:latin typeface="Calibri"/>
              </a:rPr>
              <a:t>income_per_room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3336" y="2221991"/>
            <a:ext cx="3474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00"/>
                </a:solidFill>
                <a:latin typeface="Calibri"/>
              </a:rPr>
              <a:t>MedInc / AveRooms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3336" y="2441448"/>
            <a:ext cx="3474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Poder adquisitivo relativo al tamaño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80360"/>
            <a:ext cx="3749039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92607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  <a:latin typeface="Calibri"/>
              </a:rPr>
              <a:t>population_density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227832"/>
            <a:ext cx="3474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00"/>
                </a:solidFill>
                <a:latin typeface="Calibri"/>
              </a:rPr>
              <a:t>Population / AveOccup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447288"/>
            <a:ext cx="3474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Densidad del bloque censal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61688" y="2880360"/>
            <a:ext cx="3749039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8" y="2926079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  <a:latin typeface="Calibri"/>
              </a:rPr>
              <a:t>location_cluster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3227832"/>
            <a:ext cx="3474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00"/>
                </a:solidFill>
                <a:latin typeface="Calibri"/>
              </a:rPr>
              <a:t>Lat × Lon (binning)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447288"/>
            <a:ext cx="3474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Zona geográfica categorizada</a:t>
            </a:r>
          </a:p>
        </p:txBody>
      </p:sp>
      <p:pic>
        <p:nvPicPr>
          <p:cNvPr id="26" name="Picture 25" descr="02_ingenieria_features_img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737360"/>
            <a:ext cx="3657600" cy="3200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6B00"/>
                </a:solidFill>
                <a:latin typeface="Calibri"/>
              </a:rPr>
              <a:t>8 variables originales  →  13 variables enriquecidas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40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Más features relevantes = modelos más precisos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A70"/>
                </a:solidFill>
                <a:latin typeface="Calibri"/>
              </a:rPr>
              <a:t>¿Por qué es crítico el escalado? Evitando el Data Leakage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5303520" cy="9144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⚠  DATA LEAKAGE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Contaminar el futuro con información del presente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5303520" cy="1234440"/>
          </a:xfrm>
          <a:prstGeom prst="rect">
            <a:avLst/>
          </a:prstGeom>
          <a:solidFill>
            <a:srgbClr val="005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957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00"/>
                </a:solidFill>
                <a:latin typeface="Calibri"/>
              </a:rPr>
              <a:t>Regla MLOps — Escalado correcto: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4320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✅  scaler.fit_transform( X_TRAIN )   ← correcto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✅  scaler.transform( X_TEST )        ← correcto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❌  scaler.fit_transform( X_ALL )     ← DATA LEAKAGE</a:t>
            </a:r>
          </a:p>
        </p:txBody>
      </p:sp>
      <p:pic>
        <p:nvPicPr>
          <p:cNvPr id="12" name="Picture 11" descr="02_ingenieria_features_im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98448"/>
            <a:ext cx="6035040" cy="4846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" y="361188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33333"/>
                </a:solidFill>
                <a:latin typeface="Calibri"/>
              </a:rPr>
              <a:t>El scaler se ajusta SOLO con datos de entrenamiento. Nunca con datos de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2976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 ajustamos con todo el dataset, el modelo 've' el futuro durante el entrenamiento → métricas infladas falsamente.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72591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Entrenamos 3 algoritmos y registramos 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6B00"/>
                </a:solidFill>
                <a:latin typeface="Calibri"/>
              </a:rPr>
              <a:t>Etapa 4: Entrenamiento + Tracking con MLflow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6616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3566160" cy="411480"/>
          </a:xfrm>
          <a:prstGeom prst="rect">
            <a:avLst/>
          </a:prstGeom>
          <a:solidFill>
            <a:srgbClr val="006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3A70"/>
                </a:solidFill>
                <a:latin typeface="Calibri"/>
              </a:rPr>
              <a:t>Regresión Lineal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036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Simple e interpretable.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Base de comparación.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Rápida (&lt; 1 seg).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920240"/>
            <a:ext cx="356616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920240"/>
            <a:ext cx="3566160" cy="411480"/>
          </a:xfrm>
          <a:prstGeom prst="rect">
            <a:avLst/>
          </a:prstGeom>
          <a:solidFill>
            <a:srgbClr val="006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19476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Competidor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377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3A70"/>
                </a:solidFill>
                <a:latin typeface="Calibri"/>
              </a:rPr>
              <a:t>Random Forest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88036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Potente, maneja no-linealidades.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Robusta ante outliers.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45 seg entrenamiento.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920240"/>
            <a:ext cx="356616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920240"/>
            <a:ext cx="3566160" cy="41148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9476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★  Ganador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377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3A70"/>
                </a:solidFill>
                <a:latin typeface="Calibri"/>
              </a:rPr>
              <a:t>Gradient Boosting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88036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El más preciso.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Optimiza iterativamente.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38 seg entrenamiento.</a:t>
            </a:r>
          </a:p>
        </p:txBody>
      </p:sp>
      <p:pic>
        <p:nvPicPr>
          <p:cNvPr id="21" name="Picture 20" descr="03_entrenamiento_mlflow_img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92040"/>
            <a:ext cx="7772400" cy="1691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12480" y="52120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B00"/>
                </a:solidFill>
                <a:latin typeface="Calibri"/>
              </a:rPr>
              <a:t>MLflow registra: parámetros · métricas · artefactos · versión del modelo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3A70"/>
                </a:solidFill>
                <a:latin typeface="Calibri"/>
              </a:rPr>
              <a:t>Comparativa de experimentos en MLflow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880360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447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Algoritmo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371600"/>
            <a:ext cx="1600200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4447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RMSE 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1371600"/>
            <a:ext cx="1325880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14447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R² 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71600"/>
            <a:ext cx="1600200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447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Tiempo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371600"/>
            <a:ext cx="2148840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444752"/>
            <a:ext cx="2011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20240"/>
            <a:ext cx="2880360" cy="5943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057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Regresión Lineal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1920240"/>
            <a:ext cx="1600200" cy="5943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2057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0.73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1920240"/>
            <a:ext cx="1325880" cy="5943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20574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0.62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920240"/>
            <a:ext cx="1600200" cy="5943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057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1 seg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1920240"/>
            <a:ext cx="2148840" cy="5943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2057400"/>
            <a:ext cx="2011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Descartado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606040"/>
            <a:ext cx="28803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Random Forest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2606040"/>
            <a:ext cx="16002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27432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0.52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0" y="2606040"/>
            <a:ext cx="1325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0" y="27432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0.79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606040"/>
            <a:ext cx="16002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27432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45 seg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2606040"/>
            <a:ext cx="21488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2743200"/>
            <a:ext cx="2011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Alternativa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291840"/>
            <a:ext cx="2880360" cy="594360"/>
          </a:xfrm>
          <a:prstGeom prst="rect">
            <a:avLst/>
          </a:prstGeom>
          <a:solidFill>
            <a:srgbClr val="FF6B0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429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Gradient Boosting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83280" y="3291840"/>
            <a:ext cx="1600200" cy="594360"/>
          </a:xfrm>
          <a:prstGeom prst="rect">
            <a:avLst/>
          </a:prstGeom>
          <a:solidFill>
            <a:srgbClr val="FF6B0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429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0.43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0" y="3291840"/>
            <a:ext cx="1325880" cy="594360"/>
          </a:xfrm>
          <a:prstGeom prst="rect">
            <a:avLst/>
          </a:prstGeom>
          <a:solidFill>
            <a:srgbClr val="FF6B0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0" y="34290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0.84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291840"/>
            <a:ext cx="1600200" cy="594360"/>
          </a:xfrm>
          <a:prstGeom prst="rect">
            <a:avLst/>
          </a:prstGeom>
          <a:solidFill>
            <a:srgbClr val="FF6B0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3429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 seg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3291840"/>
            <a:ext cx="2148840" cy="594360"/>
          </a:xfrm>
          <a:prstGeom prst="rect">
            <a:avLst/>
          </a:prstGeom>
          <a:solidFill>
            <a:srgbClr val="FF6B0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8160" y="3429000"/>
            <a:ext cx="2011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✅  ELEGIDO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069080"/>
            <a:ext cx="9784080" cy="1234440"/>
          </a:xfrm>
          <a:prstGeom prst="rect">
            <a:avLst/>
          </a:prstGeom>
          <a:solidFill>
            <a:srgbClr val="E8F0FE"/>
          </a:solidFill>
          <a:ln w="12700">
            <a:solidFill>
              <a:srgbClr val="006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160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A70"/>
                </a:solidFill>
                <a:latin typeface="Calibri"/>
              </a:rPr>
              <a:t>¿Por qué Gradient Boosting?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4526280"/>
            <a:ext cx="9418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• Mejor RMSE (0.43 vs 0.52): las predicciones se desvían en promedio $43k — dentro del umbral aceptable.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• Mejor R² (0.84): explica el 84% de la varianza del precio.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• El tiempo de entrenamiento es similar a Random Forest pero con mejor resultado.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3A70"/>
                </a:solidFill>
                <a:latin typeface="Calibri"/>
              </a:rPr>
              <a:t>Etapa 4: Selección rigurosa del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00"/>
                </a:solidFill>
                <a:latin typeface="Calibri"/>
              </a:rPr>
              <a:t>Validación cruzada — resultados robustos</a:t>
            </a:r>
          </a:p>
        </p:txBody>
      </p:sp>
      <p:pic>
        <p:nvPicPr>
          <p:cNvPr id="7" name="Picture 6" descr="04_seleccion_modelo_img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13258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A70"/>
                </a:solidFill>
                <a:latin typeface="Calibri"/>
              </a:rPr>
              <a:t>¿Qué es K-Fold?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1737360"/>
            <a:ext cx="3931920" cy="3200400"/>
          </a:xfrm>
          <a:prstGeom prst="rect">
            <a:avLst/>
          </a:prstGeom>
          <a:solidFill>
            <a:srgbClr val="E8F8EE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847088"/>
            <a:ext cx="3657600" cy="298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◉  Dividimos los datos en 5 subconjuntos (folds).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◉  Entrenamos 5 veces, cada vez con un fold distinto como test.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◉  El resultado final es el promedio de las 5 evaluaciones.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◉  Garantiza que el resultado no es casualidad de una sola partición.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◉  Si los 5 resultados son similares → modelo estable y generalizable.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5029200"/>
            <a:ext cx="3931920" cy="86868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512064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6B00"/>
                </a:solidFill>
                <a:latin typeface="Calibri"/>
              </a:rPr>
              <a:t>"5-fold CV garantiza que el resultado no es suerte"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3A70"/>
                </a:solidFill>
                <a:latin typeface="Calibri"/>
              </a:rPr>
              <a:t>Curvas de aprendizaje — ¿overfitting o underfitting?</a:t>
            </a:r>
          </a:p>
        </p:txBody>
      </p:sp>
      <p:pic>
        <p:nvPicPr>
          <p:cNvPr id="6" name="Picture 5" descr="04_seleccion_modelo_im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8448"/>
            <a:ext cx="713232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A70"/>
                </a:solidFill>
                <a:latin typeface="Calibri"/>
              </a:rPr>
              <a:t>Bias-Variance Tradeoff: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783080"/>
            <a:ext cx="4206240" cy="11430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84708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Sobreajuste (Overfitting)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19456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El modelo memoriza el dataset de entrenamiento pero falla en datos nuevos. Train error ↓↓  /  Val error ↑↑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063239"/>
            <a:ext cx="4206240" cy="11430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3127247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Subajuste (Underfitting)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4747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El modelo es demasiado simple para capturar los patrones. Ambos errores son altos.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343400"/>
            <a:ext cx="4206240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440740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Nuestro modelo: equilibrio correcto 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75488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Las curvas de entrenamiento y validación convergen. El error es bajo y consistente en ambos conjuntos.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3A70"/>
                </a:solidFill>
                <a:latin typeface="Calibri"/>
              </a:rPr>
              <a:t>Análisis de residuos — diagnóstico del modelo</a:t>
            </a:r>
          </a:p>
        </p:txBody>
      </p:sp>
      <p:pic>
        <p:nvPicPr>
          <p:cNvPr id="6" name="Picture 5" descr="04_seleccion_modelo_im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98448"/>
            <a:ext cx="914400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623620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88888"/>
                </a:solidFill>
                <a:latin typeface="Calibri"/>
              </a:rPr>
              <a:t>Un buen modelo tiene residuos distribuidos aleatoriamente alrededor de cero, sin patrones sistemáticos.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72591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Etapa 5: Evaluación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6B00"/>
                </a:solidFill>
                <a:latin typeface="Calibri"/>
              </a:rPr>
              <a:t>El modelo se evalúa con datos NUNCA vistos durante el entrenamiento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908792" cy="77724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6B00"/>
                </a:solidFill>
                <a:latin typeface="Calibri"/>
              </a:rPr>
              <a:t>El 20% de los datos se reserva desde el inicio. El modelo nunca los ve durante el entrenamiento.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80360"/>
            <a:ext cx="2377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4436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3A70"/>
                </a:solidFill>
                <a:latin typeface="Calibri"/>
              </a:rPr>
              <a:t>RMSE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9184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7AE60"/>
                </a:solidFill>
                <a:latin typeface="Calibri"/>
              </a:rPr>
              <a:t>0.43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673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Umbral: &lt; 0.50  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2880360"/>
            <a:ext cx="2377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294436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3A70"/>
                </a:solidFill>
                <a:latin typeface="Calibri"/>
              </a:rPr>
              <a:t>R²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29184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7AE60"/>
                </a:solidFill>
                <a:latin typeface="Calibri"/>
              </a:rPr>
              <a:t>0.84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7673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Umbral: &gt; 0.80  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880360"/>
            <a:ext cx="2377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294436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3A70"/>
                </a:solidFill>
                <a:latin typeface="Calibri"/>
              </a:rPr>
              <a:t>MAE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9184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7AE60"/>
                </a:solidFill>
                <a:latin typeface="Calibri"/>
              </a:rPr>
              <a:t>0.31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7673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Error medio abs  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32520" y="2880360"/>
            <a:ext cx="2377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294436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3A70"/>
                </a:solidFill>
                <a:latin typeface="Calibri"/>
              </a:rPr>
              <a:t>MAPE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329184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7AE60"/>
                </a:solidFill>
                <a:latin typeface="Calibri"/>
              </a:rPr>
              <a:t>16.8%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37673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Error porcentual  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0" y="4572000"/>
            <a:ext cx="7616952" cy="1005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475488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✅  MODELO APROBADO — LISTO PARA PRODUCCIÓN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3A70"/>
                </a:solidFill>
                <a:latin typeface="Calibri"/>
              </a:rPr>
              <a:t>Predicciones vs Realidad</a:t>
            </a:r>
          </a:p>
        </p:txBody>
      </p:sp>
      <p:pic>
        <p:nvPicPr>
          <p:cNvPr id="6" name="Picture 5" descr="05_evaluacion_final_img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8448"/>
            <a:ext cx="713232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A70"/>
                </a:solidFill>
                <a:latin typeface="Calibri"/>
              </a:rPr>
              <a:t>Interpretación: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737360"/>
            <a:ext cx="4206240" cy="4389120"/>
          </a:xfrm>
          <a:prstGeom prst="rect">
            <a:avLst/>
          </a:prstGeom>
          <a:solidFill>
            <a:srgbClr val="E8F0FE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847088"/>
            <a:ext cx="393192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◉  Cada punto representa una vivienda del conjunto de test.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◉  La línea diagonal = predicción perfecta (predicho = real).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◉  Nuestro modelo se acerca mucho a esa línea diagonal.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◉  Los puntos alejados de la línea son los casos más difíciles de predecir (viviendas muy caras).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◉  El clustering en la zona de $500k se debe al techo artificial del dataset.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A70"/>
                </a:solidFill>
                <a:latin typeface="Calibri"/>
              </a:rPr>
              <a:t>¿Qué variables importan más al modelo? — Feature Importance</a:t>
            </a:r>
          </a:p>
        </p:txBody>
      </p:sp>
      <p:pic>
        <p:nvPicPr>
          <p:cNvPr id="6" name="Picture 5" descr="05_evaluacion_final_im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8448"/>
            <a:ext cx="713232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A70"/>
                </a:solidFill>
                <a:latin typeface="Calibri"/>
              </a:rPr>
              <a:t>Insight de negocio: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737360"/>
            <a:ext cx="4206240" cy="4389120"/>
          </a:xfrm>
          <a:prstGeom prst="rect">
            <a:avLst/>
          </a:prstGeom>
          <a:solidFill>
            <a:srgbClr val="FFE5CC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847088"/>
            <a:ext cx="393192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Calibri"/>
              </a:rPr>
              <a:t>▶  MedInc (ingresos del vecindario) es el factor más determinante del precio. Explica más del 40% de la importancia total.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Latitude y Longitude aportan conjuntamente ~30% → la ubicación geográfica es crucial.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AveRooms y HouseAge son factores secundarios pero relevantes.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Population y AveBedrms tienen impacto menor en el modelo final.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▶  Para el negocio: si no sabes los ingresos del vecindario, la predicción se degrada significativamente.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A70"/>
                </a:solidFill>
                <a:latin typeface="Calibri"/>
              </a:rPr>
              <a:t>Análisis completo de evaluación — distribución de errores</a:t>
            </a:r>
          </a:p>
        </p:txBody>
      </p:sp>
      <p:pic>
        <p:nvPicPr>
          <p:cNvPr id="6" name="Picture 5" descr="05_evaluacion_final_im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98448"/>
            <a:ext cx="914400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623620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88888"/>
                </a:solidFill>
                <a:latin typeface="Calibri"/>
              </a:rPr>
              <a:t>La distribución de errores nos dice cuánto nos equivocamos y en qué dirección. Un error centrado en cero sin sesgo es ideal.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72591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Del modelo al servicio: API REST con FastAPI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6B00"/>
                </a:solidFill>
                <a:latin typeface="Calibri"/>
              </a:rPr>
              <a:t>Etapa 6: El modelo en producción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2103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A70"/>
                </a:solidFill>
                <a:latin typeface="Calibri"/>
              </a:rPr>
              <a:t>Notebook
.ipynb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1488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6B00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360" y="1783080"/>
            <a:ext cx="2103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874519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A70"/>
                </a:solidFill>
                <a:latin typeface="Calibri"/>
              </a:rPr>
              <a:t>Modelo
.pkl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79" y="21488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6B0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79" y="1783080"/>
            <a:ext cx="2103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19" y="1874519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A70"/>
                </a:solidFill>
                <a:latin typeface="Calibri"/>
              </a:rPr>
              <a:t>FastAPI
app.py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9" y="21488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6B00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1783080"/>
            <a:ext cx="2103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1874519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A70"/>
                </a:solidFill>
                <a:latin typeface="Calibri"/>
              </a:rPr>
              <a:t>Docker
container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21488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6B00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75519" y="1783080"/>
            <a:ext cx="2103120" cy="10058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59" y="1874519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http://
localhost:8000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71800"/>
            <a:ext cx="5029200" cy="21031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3580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00"/>
                </a:solidFill>
                <a:latin typeface="Calibri"/>
              </a:rPr>
              <a:t>Respuesta de la API: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375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FF7F"/>
                </a:solidFill>
                <a:latin typeface="Calibri"/>
              </a:rPr>
              <a:t>{</a:t>
            </a:r>
          </a:p>
          <a:p>
            <a:pPr algn="l"/>
            <a:r>
              <a:rPr sz="1200" b="0">
                <a:solidFill>
                  <a:srgbClr val="7FFF7F"/>
                </a:solidFill>
                <a:latin typeface="Calibri"/>
              </a:rPr>
              <a:t>  "precio_estimado_usd": 262595,</a:t>
            </a:r>
          </a:p>
          <a:p>
            <a:pPr algn="l"/>
            <a:r>
              <a:rPr sz="1200" b="0">
                <a:solidFill>
                  <a:srgbClr val="7FFF7F"/>
                </a:solidFill>
                <a:latin typeface="Calibri"/>
              </a:rPr>
              <a:t>  "unidad": "USD",</a:t>
            </a:r>
          </a:p>
          <a:p>
            <a:pPr algn="l"/>
            <a:r>
              <a:rPr sz="1200" b="0">
                <a:solidFill>
                  <a:srgbClr val="7FFF7F"/>
                </a:solidFill>
                <a:latin typeface="Calibri"/>
              </a:rPr>
              <a:t>  "modelo_version": "gradient_boosting_v2",</a:t>
            </a:r>
          </a:p>
          <a:p>
            <a:pPr algn="l"/>
            <a:r>
              <a:rPr sz="1200" b="0">
                <a:solidFill>
                  <a:srgbClr val="7FFF7F"/>
                </a:solidFill>
                <a:latin typeface="Calibri"/>
              </a:rPr>
              <a:t>  "confianza": "alta"</a:t>
            </a:r>
          </a:p>
          <a:p>
            <a:pPr algn="l"/>
            <a:r>
              <a:rPr sz="1200" b="0">
                <a:solidFill>
                  <a:srgbClr val="7FFF7F"/>
                </a:solidFill>
                <a:latin typeface="Calibri"/>
              </a:rPr>
              <a:t>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063240"/>
            <a:ext cx="6035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Cualquier sistema puede consultar el modelo vía HTTP en milisegundos.
El modelo escala a miles de predicciones por segundo.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0" y="4251960"/>
            <a:ext cx="6035040" cy="1554480"/>
          </a:xfrm>
          <a:prstGeom prst="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89320" y="4343400"/>
            <a:ext cx="5760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6B00"/>
                </a:solidFill>
                <a:latin typeface="Calibri"/>
              </a:rPr>
              <a:t>POST  /predict          → predicción individual</a:t>
            </a:r>
          </a:p>
          <a:p>
            <a:pPr algn="l"/>
            <a:r>
              <a:rPr sz="1200" b="0">
                <a:solidFill>
                  <a:srgbClr val="FF6B00"/>
                </a:solidFill>
                <a:latin typeface="Calibri"/>
              </a:rPr>
              <a:t>POST  /predict/batch   → lote de predicciones</a:t>
            </a:r>
          </a:p>
          <a:p>
            <a:pPr algn="l"/>
            <a:r>
              <a:rPr sz="1200" b="0">
                <a:solidFill>
                  <a:srgbClr val="FF6B00"/>
                </a:solidFill>
                <a:latin typeface="Calibri"/>
              </a:rPr>
              <a:t>GET   /health           → estado del servicio</a:t>
            </a:r>
          </a:p>
          <a:p>
            <a:pPr algn="l"/>
            <a:r>
              <a:rPr sz="1200" b="0">
                <a:solidFill>
                  <a:srgbClr val="FF6B00"/>
                </a:solidFill>
                <a:latin typeface="Calibri"/>
              </a:rPr>
              <a:t>GET   /docs             → documentación interactiva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3A70"/>
                </a:solidFill>
                <a:latin typeface="Calibri"/>
              </a:rPr>
              <a:t>Interfaz web para usuarios de negocio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00"/>
                </a:solidFill>
                <a:latin typeface="Calibri"/>
              </a:rPr>
              <a:t>Sin código, sin tecnicismos — http://localhost:8000/ui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5486400" cy="46634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1907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A70"/>
                </a:solidFill>
                <a:latin typeface="Calibri"/>
              </a:rPr>
              <a:t>Estimador de Precio de Vivienda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5486400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945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Ingresos del vecindario (x $10k)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221991"/>
            <a:ext cx="17373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2240279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A70"/>
                </a:solidFill>
                <a:latin typeface="Calibri"/>
              </a:rPr>
              <a:t>3.5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Antigüedad de la vivienda (años)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2633472"/>
            <a:ext cx="17373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0" y="265176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A70"/>
                </a:solidFill>
                <a:latin typeface="Calibri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0175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Habitaciones por hogar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3044951"/>
            <a:ext cx="17373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0" y="3063239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A70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4290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Dormitorios por hogar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456432"/>
            <a:ext cx="17373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347472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A70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8404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Población del bloque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31920" y="3867912"/>
            <a:ext cx="17373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388620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A70"/>
                </a:solidFill>
                <a:latin typeface="Calibri"/>
              </a:rPr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51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Personas por hogar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4279392"/>
            <a:ext cx="17373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0" y="429768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A70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663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Latitud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4690872"/>
            <a:ext cx="17373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23360" y="4709159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A70"/>
                </a:solidFill>
                <a:latin typeface="Calibri"/>
              </a:rPr>
              <a:t>37.88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074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Longitud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1920" y="5102352"/>
            <a:ext cx="17373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23360" y="512064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A70"/>
                </a:solidFill>
                <a:latin typeface="Calibri"/>
              </a:rPr>
              <a:t>-122.23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71600" y="5577840"/>
            <a:ext cx="3200400" cy="50292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0" y="563270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Estimar precio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1645920"/>
            <a:ext cx="5669280" cy="4663440"/>
          </a:xfrm>
          <a:prstGeom prst="rect">
            <a:avLst/>
          </a:prstGeom>
          <a:solidFill>
            <a:srgbClr val="E8F8EE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783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Resultado: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19456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7AE60"/>
                </a:solidFill>
                <a:latin typeface="Calibri"/>
              </a:rPr>
              <a:t>$262,595 USD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0" y="2971800"/>
            <a:ext cx="4389120" cy="36576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06324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Rango estimado: $240k – $285k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Confianza: Alta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Modelo: GradientBoosting v2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Tiempo de respuesta: 8ms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4572000"/>
            <a:ext cx="5669280" cy="16002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75488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Accesible para cualquier usuario de negocio
sin conocimientos técnicos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577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B00"/>
                </a:solidFill>
                <a:latin typeface="Calibri"/>
              </a:rPr>
              <a:t>Disponible 24/7 via navegador web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72591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El ciclo MLOps completo recorrido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3474720" cy="19202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508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52704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39112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Entender los datos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y sus patrones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1488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00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417320"/>
            <a:ext cx="34747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508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A70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52704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3A70"/>
                </a:solidFill>
                <a:latin typeface="Calibri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39112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Transformar variables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para el modelo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1488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00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417320"/>
            <a:ext cx="3474720" cy="19202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508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52704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Entrenamiento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39112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Probar 3 algoritmos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con MLflow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33375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00"/>
                </a:solidFill>
                <a:latin typeface="Calibri"/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749039"/>
            <a:ext cx="34747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19" y="3840479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A70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8587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3A70"/>
                </a:solidFill>
                <a:latin typeface="Calibri"/>
              </a:rPr>
              <a:t>Selección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70831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Elegir el mejor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con CV 5-fold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480559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0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3749039"/>
            <a:ext cx="3474720" cy="19202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840479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38587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Evaluación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370831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Test set reservado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Gate de calidad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4480559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00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749039"/>
            <a:ext cx="34747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3840479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A70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38587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3A70"/>
                </a:solidFill>
                <a:latin typeface="Calibri"/>
              </a:rPr>
              <a:t>Producción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370831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API REST + Docker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Acceso web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0080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B00"/>
                </a:solidFill>
                <a:latin typeface="Calibri"/>
              </a:rPr>
              <a:t>El monitoreo cierra el ciclo y dispara el re-entrenamiento si el modelo degrada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3A70"/>
                </a:solidFill>
                <a:latin typeface="Calibri"/>
              </a:rPr>
              <a:t>Reproducibilidad total — esto es MLOps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00"/>
                </a:solidFill>
                <a:latin typeface="Calibri"/>
              </a:rPr>
              <a:t>Los 4 pilares de este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5669280" cy="2194560"/>
          </a:xfrm>
          <a:prstGeom prst="rect">
            <a:avLst/>
          </a:prstGeom>
          <a:solidFill>
            <a:srgbClr val="F5F5F5"/>
          </a:solidFill>
          <a:ln w="12700">
            <a:solidFill>
              <a:srgbClr val="006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5669280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1907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📦  Configuración centralizada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737360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B00"/>
                </a:solidFill>
                <a:latin typeface="Calibri"/>
              </a:rPr>
              <a:t>config.yaml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Un único archivo de configuración controla todo el pipeline.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432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Cambiar un parámetro se propaga automáticamente a todos los notebooks.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461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Elimina los 'números mágicos' dispersos en el código.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645920"/>
            <a:ext cx="5669280" cy="2194560"/>
          </a:xfrm>
          <a:prstGeom prst="rect">
            <a:avLst/>
          </a:prstGeom>
          <a:solidFill>
            <a:srgbClr val="F5F5F5"/>
          </a:solidFill>
          <a:ln w="12700">
            <a:solidFill>
              <a:srgbClr val="006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45920"/>
            <a:ext cx="5669280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1907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🔬  Tracking de experimentos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04120" y="1737360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B00"/>
                </a:solidFill>
                <a:latin typeface="Calibri"/>
              </a:rPr>
              <a:t>MLflow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402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Cada entrenamiento queda registrado automáticamente.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432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Podemos comparar cientos de experimentos visualmente.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2461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El modelo ganador queda versionado y reproducible.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23360"/>
            <a:ext cx="5669280" cy="2194560"/>
          </a:xfrm>
          <a:prstGeom prst="rect">
            <a:avLst/>
          </a:prstGeom>
          <a:solidFill>
            <a:srgbClr val="F5F5F5"/>
          </a:solidFill>
          <a:ln w="12700">
            <a:solidFill>
              <a:srgbClr val="006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023360"/>
            <a:ext cx="5669280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09651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🐳  Containerización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4114800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B00"/>
                </a:solidFill>
                <a:latin typeface="Calibri"/>
              </a:rPr>
              <a:t>Docker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El modelo + dependencias empaquetados en un contenedor.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1206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Funciona igual en desarrollo, staging y producción.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62356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Una sola línea: docker-compose up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4023360"/>
            <a:ext cx="5669280" cy="2194560"/>
          </a:xfrm>
          <a:prstGeom prst="rect">
            <a:avLst/>
          </a:prstGeom>
          <a:solidFill>
            <a:srgbClr val="F5F5F5"/>
          </a:solidFill>
          <a:ln w="12700">
            <a:solidFill>
              <a:srgbClr val="006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4023360"/>
            <a:ext cx="5669280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09651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📓  Documentación ejecutable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04120" y="4114800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B00"/>
                </a:solidFill>
                <a:latin typeface="Calibri"/>
              </a:rPr>
              <a:t>6 Notebooks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6177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El código es la documentación: comentarios + visualizaciones.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1206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Cualquier persona puede seguir el proceso paso a paso.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62356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Reproducible desde cero en cualquier equipo.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6446520"/>
            <a:ext cx="11457432" cy="347472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6B00"/>
                </a:solidFill>
                <a:latin typeface="Calibri"/>
              </a:rPr>
              <a:t>Cualquier persona puede reproducir este ejemplo en su equipo en menos de 10 minutos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8895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3A70"/>
                </a:solidFill>
                <a:latin typeface="Calibri"/>
              </a:rPr>
              <a:t>Stack tecnológico del proyecto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749039" cy="1325880"/>
          </a:xfrm>
          <a:prstGeom prst="rect">
            <a:avLst/>
          </a:prstGeom>
          <a:solidFill>
            <a:srgbClr val="F5F5F5"/>
          </a:solidFill>
          <a:ln w="12700">
            <a:solidFill>
              <a:srgbClr val="003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749039" cy="41148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472184"/>
            <a:ext cx="35295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Python 3.11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920240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Lenguaje 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417320"/>
            <a:ext cx="3749039" cy="1325880"/>
          </a:xfrm>
          <a:prstGeom prst="rect">
            <a:avLst/>
          </a:prstGeom>
          <a:solidFill>
            <a:srgbClr val="F5F5F5"/>
          </a:solidFill>
          <a:ln w="12700">
            <a:solidFill>
              <a:srgbClr val="F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417320"/>
            <a:ext cx="3749039" cy="411480"/>
          </a:xfrm>
          <a:prstGeom prst="rect">
            <a:avLst/>
          </a:prstGeom>
          <a:solidFill>
            <a:srgbClr val="F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8" y="1472184"/>
            <a:ext cx="35295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scikit-learn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1920240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Modelos 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417320"/>
            <a:ext cx="3749039" cy="1325880"/>
          </a:xfrm>
          <a:prstGeom prst="rect">
            <a:avLst/>
          </a:prstGeom>
          <a:solidFill>
            <a:srgbClr val="F5F5F5"/>
          </a:solidFill>
          <a:ln w="12700">
            <a:solidFill>
              <a:srgbClr val="009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417320"/>
            <a:ext cx="3749039" cy="411480"/>
          </a:xfrm>
          <a:prstGeom prst="rect">
            <a:avLst/>
          </a:prstGeom>
          <a:solidFill>
            <a:srgbClr val="009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472184"/>
            <a:ext cx="35295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MLflow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1920240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Experiment Tracking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880360"/>
            <a:ext cx="3749039" cy="1325880"/>
          </a:xfrm>
          <a:prstGeom prst="rect">
            <a:avLst/>
          </a:prstGeom>
          <a:solidFill>
            <a:srgbClr val="F5F5F5"/>
          </a:solidFill>
          <a:ln w="12700">
            <a:solidFill>
              <a:srgbClr val="059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880360"/>
            <a:ext cx="3749039" cy="411480"/>
          </a:xfrm>
          <a:prstGeom prst="rect">
            <a:avLst/>
          </a:prstGeom>
          <a:solidFill>
            <a:srgbClr val="059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35224"/>
            <a:ext cx="35295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3383280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API REST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2880360"/>
            <a:ext cx="3749039" cy="1325880"/>
          </a:xfrm>
          <a:prstGeom prst="rect">
            <a:avLst/>
          </a:prstGeom>
          <a:solidFill>
            <a:srgbClr val="F5F5F5"/>
          </a:solidFill>
          <a:ln w="12700">
            <a:solidFill>
              <a:srgbClr val="0091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2880360"/>
            <a:ext cx="3749039" cy="411480"/>
          </a:xfrm>
          <a:prstGeom prst="rect">
            <a:avLst/>
          </a:prstGeom>
          <a:solidFill>
            <a:srgbClr val="0091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07408" y="2935224"/>
            <a:ext cx="35295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3383280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Containerización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2880360"/>
            <a:ext cx="3749039" cy="1325880"/>
          </a:xfrm>
          <a:prstGeom prst="rect">
            <a:avLst/>
          </a:prstGeom>
          <a:solidFill>
            <a:srgbClr val="F5F5F5"/>
          </a:solidFill>
          <a:ln w="12700">
            <a:solidFill>
              <a:srgbClr val="150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2880360"/>
            <a:ext cx="3749039" cy="411480"/>
          </a:xfrm>
          <a:prstGeom prst="rect">
            <a:avLst/>
          </a:prstGeom>
          <a:solidFill>
            <a:srgbClr val="150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7" y="2935224"/>
            <a:ext cx="35295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Pandas / NumPy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3383280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Manipulación de datos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343400"/>
            <a:ext cx="3749039" cy="1325880"/>
          </a:xfrm>
          <a:prstGeom prst="rect">
            <a:avLst/>
          </a:prstGeom>
          <a:solidFill>
            <a:srgbClr val="F5F5F5"/>
          </a:solidFill>
          <a:ln w="12700">
            <a:solidFill>
              <a:srgbClr val="1155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343400"/>
            <a:ext cx="3749039" cy="411480"/>
          </a:xfrm>
          <a:prstGeom prst="rect">
            <a:avLst/>
          </a:prstGeom>
          <a:solidFill>
            <a:srgbClr val="115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" y="4398264"/>
            <a:ext cx="35295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Matplotlib / Seaborn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4846320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Visualización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80" y="4343400"/>
            <a:ext cx="3749039" cy="1325880"/>
          </a:xfrm>
          <a:prstGeom prst="rect">
            <a:avLst/>
          </a:prstGeom>
          <a:solidFill>
            <a:srgbClr val="F5F5F5"/>
          </a:solidFill>
          <a:ln w="1270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97680" y="4343400"/>
            <a:ext cx="3749039" cy="41148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07408" y="4398264"/>
            <a:ext cx="35295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YAML config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846320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Configuración central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4343400"/>
            <a:ext cx="3749039" cy="1325880"/>
          </a:xfrm>
          <a:prstGeom prst="rect">
            <a:avLst/>
          </a:prstGeom>
          <a:solidFill>
            <a:srgbClr val="F5F5F5"/>
          </a:solidFill>
          <a:ln w="12700">
            <a:solidFill>
              <a:srgbClr val="F37B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0" y="4343400"/>
            <a:ext cx="3749039" cy="411480"/>
          </a:xfrm>
          <a:prstGeom prst="rect">
            <a:avLst/>
          </a:prstGeom>
          <a:solidFill>
            <a:srgbClr val="F37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9327" y="4398264"/>
            <a:ext cx="35295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Jupyter Notebooks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7" y="4846320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Documentación ejecutable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725912" cy="54864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¡Gracias!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6B00"/>
                </a:solidFill>
                <a:latin typeface="Calibri"/>
              </a:rPr>
              <a:t>Preguntas y debate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31720"/>
            <a:ext cx="685800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6400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Prueba el modelo en vivo: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http://localhost:8000/ui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Documentación interactiva: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http://localhost:8000/docs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Repositorio del proyecto: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github.com/tu-org/mlops-ciclo-vida</a:t>
            </a:r>
          </a:p>
        </p:txBody>
      </p:sp>
      <p:pic>
        <p:nvPicPr>
          <p:cNvPr id="8" name="Picture 7" descr="foto_instru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27432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0" y="4160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Instructor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807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CCFF"/>
                </a:solidFill>
                <a:latin typeface="Calibri"/>
              </a:rPr>
              <a:t>Dataset: California Housing (sklearn)</a:t>
            </a:r>
          </a:p>
          <a:p>
            <a:pPr algn="l"/>
            <a:r>
              <a:rPr sz="1100" b="0">
                <a:solidFill>
                  <a:srgbClr val="AACCFF"/>
                </a:solidFill>
                <a:latin typeface="Calibri"/>
              </a:rPr>
              <a:t>Modelo: GradientBoosting — RMSE 0.43 / R² 0.84</a:t>
            </a:r>
          </a:p>
          <a:p>
            <a:pPr algn="l"/>
            <a:r>
              <a:rPr sz="1100" b="0">
                <a:solidFill>
                  <a:srgbClr val="AACCFF"/>
                </a:solidFill>
                <a:latin typeface="Calibri"/>
              </a:rPr>
              <a:t>6 notebooks + API + Docker = MLOps completo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